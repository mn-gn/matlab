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e2e79ab534e81" /><Relationship Type="http://schemas.openxmlformats.org/officeDocument/2006/relationships/extended-properties" Target="/docProps/app.xml" Id="Ra7983d5ff3054d98" /><Relationship Type="http://schemas.openxmlformats.org/officeDocument/2006/relationships/officeDocument" Target="/ppt/presentation.xml" Id="R5622b85b3b58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c2b9ec39c4f37"/>
  </p:sldMasterIdLst>
  <p:notesMasterIdLst>
    <p:notesMasterId xmlns:r="http://schemas.openxmlformats.org/officeDocument/2006/relationships" r:id="Re8365cce363f4f9c"/>
  </p:notesMasterIdLst>
  <p:sldIdLst>
    <p:sldId xmlns:r="http://schemas.openxmlformats.org/officeDocument/2006/relationships" id="256" r:id="R14f118c89fd14f79"/>
    <p:sldId xmlns:r="http://schemas.openxmlformats.org/officeDocument/2006/relationships" id="257" r:id="R7cfbf8981cc04fa7"/>
    <p:sldId xmlns:r="http://schemas.openxmlformats.org/officeDocument/2006/relationships" id="258" r:id="Rd3c5b3b69b914ea5"/>
    <p:sldId xmlns:r="http://schemas.openxmlformats.org/officeDocument/2006/relationships" id="259" r:id="Ra81193e1f61e4667"/>
    <p:sldId xmlns:r="http://schemas.openxmlformats.org/officeDocument/2006/relationships" id="260" r:id="R5d163228428446d9"/>
    <p:sldId xmlns:r="http://schemas.openxmlformats.org/officeDocument/2006/relationships" id="261" r:id="R9d78a84237534d15"/>
    <p:sldId xmlns:r="http://schemas.openxmlformats.org/officeDocument/2006/relationships" id="262" r:id="R3c73448e25644c32"/>
    <p:sldId xmlns:r="http://schemas.openxmlformats.org/officeDocument/2006/relationships" id="263" r:id="Rc00a81039c7b43cf"/>
    <p:sldId xmlns:r="http://schemas.openxmlformats.org/officeDocument/2006/relationships" id="264" r:id="R27ecde2945974790"/>
    <p:sldId xmlns:r="http://schemas.openxmlformats.org/officeDocument/2006/relationships" id="265" r:id="Rd2abab92b6a54f71"/>
    <p:sldId xmlns:r="http://schemas.openxmlformats.org/officeDocument/2006/relationships" id="266" r:id="R020c02fb632d4960"/>
    <p:sldId xmlns:r="http://schemas.openxmlformats.org/officeDocument/2006/relationships" id="267" r:id="R1805a57f8cca4c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c2b9ec39c4f37" /><Relationship Type="http://schemas.openxmlformats.org/officeDocument/2006/relationships/theme" Target="/ppt/theme/theme1.xml" Id="R835ee57afd904433" /><Relationship Type="http://schemas.openxmlformats.org/officeDocument/2006/relationships/notesMaster" Target="/ppt/notesMasters/notesMaster1.xml" Id="Re8365cce363f4f9c" /><Relationship Type="http://schemas.openxmlformats.org/officeDocument/2006/relationships/presProps" Target="/ppt/presProps.xml" Id="R2666eaf008c947e0" /><Relationship Type="http://schemas.openxmlformats.org/officeDocument/2006/relationships/viewProps" Target="/ppt/viewProps.xml" Id="Rb56a9ec965544da0" /><Relationship Type="http://schemas.openxmlformats.org/officeDocument/2006/relationships/tableStyles" Target="/ppt/tableStyles.xml" Id="R58d8d1f440ab4d73" /><Relationship Type="http://schemas.openxmlformats.org/officeDocument/2006/relationships/slide" Target="/ppt/slides/slide1.xml" Id="R14f118c89fd14f79" /><Relationship Type="http://schemas.openxmlformats.org/officeDocument/2006/relationships/slide" Target="/ppt/slides/slide2.xml" Id="R7cfbf8981cc04fa7" /><Relationship Type="http://schemas.openxmlformats.org/officeDocument/2006/relationships/slide" Target="/ppt/slides/slide3.xml" Id="Rd3c5b3b69b914ea5" /><Relationship Type="http://schemas.openxmlformats.org/officeDocument/2006/relationships/slide" Target="/ppt/slides/slide4.xml" Id="Ra81193e1f61e4667" /><Relationship Type="http://schemas.openxmlformats.org/officeDocument/2006/relationships/slide" Target="/ppt/slides/slide5.xml" Id="R5d163228428446d9" /><Relationship Type="http://schemas.openxmlformats.org/officeDocument/2006/relationships/slide" Target="/ppt/slides/slide6.xml" Id="R9d78a84237534d15" /><Relationship Type="http://schemas.openxmlformats.org/officeDocument/2006/relationships/slide" Target="/ppt/slides/slide7.xml" Id="R3c73448e25644c32" /><Relationship Type="http://schemas.openxmlformats.org/officeDocument/2006/relationships/slide" Target="/ppt/slides/slide8.xml" Id="Rc00a81039c7b43cf" /><Relationship Type="http://schemas.openxmlformats.org/officeDocument/2006/relationships/slide" Target="/ppt/slides/slide9.xml" Id="R27ecde2945974790" /><Relationship Type="http://schemas.openxmlformats.org/officeDocument/2006/relationships/slide" Target="/ppt/slides/slide10.xml" Id="Rd2abab92b6a54f71" /><Relationship Type="http://schemas.openxmlformats.org/officeDocument/2006/relationships/slide" Target="/ppt/slides/slide11.xml" Id="R020c02fb632d4960" /><Relationship Type="http://schemas.openxmlformats.org/officeDocument/2006/relationships/slide" Target="/ppt/slides/slide12.xml" Id="R1805a57f8cca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2b8281e0b2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488ace53634e5f" /><Relationship Type="http://schemas.openxmlformats.org/officeDocument/2006/relationships/notesMaster" Target="/ppt/notesMasters/notesMaster1.xml" Id="Rb6e01d72a8dd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751f86e7d4770" /><Relationship Type="http://schemas.openxmlformats.org/officeDocument/2006/relationships/notesMaster" Target="/ppt/notesMasters/notesMaster1.xml" Id="Rbecf6633166643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fc49ee9c04fc4" /><Relationship Type="http://schemas.openxmlformats.org/officeDocument/2006/relationships/notesMaster" Target="/ppt/notesMasters/notesMaster1.xml" Id="Rc97d144377664d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e784cfc71e4ca8" /><Relationship Type="http://schemas.openxmlformats.org/officeDocument/2006/relationships/notesMaster" Target="/ppt/notesMasters/notesMaster1.xml" Id="R9a502fc7abe5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7eb8dbdd854dc6" /><Relationship Type="http://schemas.openxmlformats.org/officeDocument/2006/relationships/notesMaster" Target="/ppt/notesMasters/notesMaster1.xml" Id="R4ab5c75df1ed4c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dc2ff98c142f5" /><Relationship Type="http://schemas.openxmlformats.org/officeDocument/2006/relationships/notesMaster" Target="/ppt/notesMasters/notesMaster1.xml" Id="Rdfede5712ddf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1189478cb4ef8" /><Relationship Type="http://schemas.openxmlformats.org/officeDocument/2006/relationships/notesMaster" Target="/ppt/notesMasters/notesMaster1.xml" Id="R0fcf258d2b0a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8efd22fe14529" /><Relationship Type="http://schemas.openxmlformats.org/officeDocument/2006/relationships/notesMaster" Target="/ppt/notesMasters/notesMaster1.xml" Id="R281c07c2df144d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28b6b888884914" /><Relationship Type="http://schemas.openxmlformats.org/officeDocument/2006/relationships/notesMaster" Target="/ppt/notesMasters/notesMaster1.xml" Id="R2a1454e0be0645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3661142cb643a6" /><Relationship Type="http://schemas.openxmlformats.org/officeDocument/2006/relationships/notesMaster" Target="/ppt/notesMasters/notesMaster1.xml" Id="Rf306caad99fc43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392ecac4064883" /><Relationship Type="http://schemas.openxmlformats.org/officeDocument/2006/relationships/notesMaster" Target="/ppt/notesMasters/notesMaster1.xml" Id="R76e9689aad1347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f10dedd9d04aec" /><Relationship Type="http://schemas.openxmlformats.org/officeDocument/2006/relationships/notesMaster" Target="/ppt/notesMasters/notesMaster1.xml" Id="Rf77fb82aeee44e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73ab8ec964a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a594aa2bfb44f3d" /><Relationship Type="http://schemas.openxmlformats.org/officeDocument/2006/relationships/slideLayout" Target="/ppt/slideLayouts/slideLayout2.xml" Id="R5787f3ca364e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7f3ca364e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55dc5c62b4b9d" /><Relationship Type="http://schemas.openxmlformats.org/officeDocument/2006/relationships/notesSlide" Target="/ppt/notesSlides/notesSlide1.xml" Id="R525ec3aa264b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115f525ff4571" /><Relationship Type="http://schemas.openxmlformats.org/officeDocument/2006/relationships/notesSlide" Target="/ppt/notesSlides/notesSlide2.xml" Id="Rbb05074c45bd41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cee6896b5c490b" /><Relationship Type="http://schemas.openxmlformats.org/officeDocument/2006/relationships/notesSlide" Target="/ppt/notesSlides/notesSlide3.xml" Id="R7de1655943f340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1c7064d3141e2" /><Relationship Type="http://schemas.openxmlformats.org/officeDocument/2006/relationships/notesSlide" Target="/ppt/notesSlides/notesSlide4.xml" Id="R7859e9a5fbc6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fcc5729fd4ea7" /><Relationship Type="http://schemas.openxmlformats.org/officeDocument/2006/relationships/notesSlide" Target="/ppt/notesSlides/notesSlide5.xml" Id="Rc80d5ee9204340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29f510ccc4c57" /><Relationship Type="http://schemas.openxmlformats.org/officeDocument/2006/relationships/notesSlide" Target="/ppt/notesSlides/notesSlide6.xml" Id="Rf5889462249c42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9014031094145" /><Relationship Type="http://schemas.openxmlformats.org/officeDocument/2006/relationships/image" Target="/ppt/media/image.png" Id="R55be851052d74a19" /><Relationship Type="http://schemas.openxmlformats.org/officeDocument/2006/relationships/image" Target="/ppt/media/image2.png" Id="R1cc97c98ea7c4a37" /><Relationship Type="http://schemas.openxmlformats.org/officeDocument/2006/relationships/notesSlide" Target="/ppt/notesSlides/notesSlide7.xml" Id="R31ef779f902e4e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54875decd4562" /><Relationship Type="http://schemas.openxmlformats.org/officeDocument/2006/relationships/notesSlide" Target="/ppt/notesSlides/notesSlide8.xml" Id="R72a469a8d4da4c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5b3dd579bc46f9" /><Relationship Type="http://schemas.openxmlformats.org/officeDocument/2006/relationships/notesSlide" Target="/ppt/notesSlides/notesSlide9.xml" Id="R2f4005b7caf14a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b47cee2fa4284" /><Relationship Type="http://schemas.openxmlformats.org/officeDocument/2006/relationships/notesSlide" Target="/ppt/notesSlides/notesSlide10.xml" Id="R6708450667504b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a3476e32af44eb" /><Relationship Type="http://schemas.openxmlformats.org/officeDocument/2006/relationships/notesSlide" Target="/ppt/notesSlides/notesSlide11.xml" Id="R9536a0682a664d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9f51d503a8437c" /><Relationship Type="http://schemas.openxmlformats.org/officeDocument/2006/relationships/notesSlide" Target="/ppt/notesSlides/notesSlide12.xml" Id="R7508b200827047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2B7F2-9CC6-4D96-A9BC-876B781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9"/>
          </a:solidFill>
          <a:ln xmlns:a="http://schemas.openxmlformats.org/drawingml/2006/main" w="0">
            <a:solidFill>
              <a:srgbClr val="14191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2491E-9E87-4C1A-A98B-1577625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0">
            <a:solidFill>
              <a:srgbClr val="F0D9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6B66A-AE9F-474E-9A55-2BBDA419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TOTAL PROCESS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1DAB8-62E2-4B35-81E1-C16D4B71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중첩 신호에서 반응 경로 화살표를 찾기까지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784DC-E2DF-4EA1-85A6-08D6B51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rPr>
              <a:t>tensor expansion은 출발점이었고, 최종적으로는 lifetime-resolved tensor 정보와 first-order sparse generator를 결합하는 방향으로 정리됐다.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F1A3E-FF7C-4ACC-9E14-A7953E98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9525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457FE-A7BA-4277-80AC-587662D7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D99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0D99D"/>
                </a:solidFill>
                <a:latin typeface="Malgun Gothic"/>
                <a:ea typeface="Malgun Gothic"/>
                <a:cs typeface="Malgun Gothic"/>
              </a:rPr>
              <a:t>현재 결론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C0002-E6A6-4BC8-AFCB-0DC37E9D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sequential topology는 강하게 복원됐고, branch/parallel은 외부 물리 제약이 있을 때 조건부로 가능하다.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D7A51-B9EB-4150-BF0A-43C38B9E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9E5"/>
          </a:solidFill>
          <a:ln xmlns:a="http://schemas.openxmlformats.org/drawingml/2006/main" w="0">
            <a:solidFill>
              <a:srgbClr val="D2E9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C1D76-D4D6-4E56-9DCA-87B1D98B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99812-89F0-49C5-9648-5745EE59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intermediate arrow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62D01-73B1-4DDD-873F-C33E904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D9"/>
          </a:solidFill>
          <a:ln xmlns:a="http://schemas.openxmlformats.org/drawingml/2006/main" w="0">
            <a:solidFill>
              <a:srgbClr val="D8EB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34634-DAB7-441F-BB49-8E143655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3400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7B7E9-6A26-408C-BDDB-FFA5D2AE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sparse kinetic generator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4E626-C38B-4203-B5D9-F4FAB64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DD44D-54DB-4F99-A130-5021F3FC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2A2D9-5477-455C-BE23-A57CAA8B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150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not pure tensor-only identifiability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D28EB-4BB6-4322-8C99-D51E71AE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73DC9-AED1-4027-8D45-5D0B03C6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Overview deck for the full Tensor analysis 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6A103-E75A-4B12-AAC9-D6E389AE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50026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BF41F-8250-4346-BB39-67821D3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259C4-DC1E-4BF6-BD8B-92E71A5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278E9-57F3-468D-B3CF-809F7429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ORIGINAL 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EE3E8-0CDA-498B-8006-75E5A478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본래 목표는 spectrum 완전분리가 아니라 경로 방향이었다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B274F-F7AD-4735-B533-CE5F425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2D q-time 데이터에는 여러 중간체 신호가 겹친다. 핵심 질문은 각 중간체가 어떤 순서와 방향으로 연결되는지였다.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0947E-9E84-4EE8-A3BD-E496D09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12202-0E13-4C3F-9214-C43BBA7D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000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67AC4-0B87-434A-BE08-28CC8AF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505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71AC0-F8E9-4605-8172-B7A9B3D5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5050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overlapped X(q,t)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여러 q-spectrum과 concentration profile이 동시에 섞인 관측값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1A11F-9270-49CE-8AE4-3144E9A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F8935-B48D-4C34-B7E6-DC8794B2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00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0AF30-39F1-406E-811B-798E8F60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2505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52A9D-6C5D-466F-B540-1997A052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09950"/>
            <a:ext cx="25050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intermediate arrows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예: I1 -&gt; I2 -&gt; I3 -&gt; ground 또는 branch topology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86F88-BA1D-4591-AD03-149665D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C8105-FC79-4F8F-B9D2-49CA434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000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741E7-271A-4587-9341-B84D12FA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505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rPr>
              <a:t>not enough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76F71-CDF9-41D3-921D-31EC97D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5050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low residual</a:t>
            </a:r>
          </a:p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데이터를 잘 재구성하는 것만으로는 경로가 맞다는 뜻이 아님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82704-FBE5-43BB-B45C-159D702D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66B16-096D-4B6A-98BC-ACDB2EA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05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DD398-FBEA-4984-8292-0644F38C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719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08D05-12DE-4A45-BCC2-A43790E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9B708-EF10-4F23-87BE-BF05517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C41FE-7A55-4B22-BA34-CFD5ADF1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7DF98-9843-46D8-97F9-BBD969F1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69206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6E78C-A458-426F-A60B-93E4016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3418D-4D51-4D6C-99AA-438AA5C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197CE-E10A-4B69-8EB1-B0C62E7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WHOLE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C259A-E479-4FA3-B9F6-BC4CBB51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전체 과정은 네 번의 방향 전환으로 압축된다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EBDCC-F72F-4023-AAF9-B3C5A8AC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처음에는 CP-ALS decomposition 자체에 기대했지만, 마지막에는 tensor 정보를 kinetic generator에 연결하는 방식이 가장 합리적이었다.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F24F0-5E62-4194-8BC3-9257058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62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85A12-10F3-4EA0-8D83-71A39BE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48C46-6252-48E1-A153-20B1C48A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1. tensorize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8CA87-9CB6-479A-A631-09C0E45F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RSV fitting과 delay/tau 축으로 X(q,t,tau)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B62CB-E786-472D-8076-3796C9D8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A8902-EA43-4493-A4DA-42624B64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71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9EF70-51C9-4AA3-AB16-303F26C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362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71151-5DDE-4CEA-B238-80601ED9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E94B4-B3FF-4725-AC43-54798262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8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15F8C"/>
                </a:solidFill>
                <a:latin typeface="Malgun Gothic"/>
                <a:ea typeface="Malgun Gothic"/>
                <a:cs typeface="Malgun Gothic"/>
              </a:rPr>
              <a:t>2. decompose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5BBA7-484D-4F4E-8D6C-3B9D60C6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CP-ALS + 비음수 제약으로 성분 후보 추출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8EAE4-4A54-44AC-80F2-6EFE99D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EEAC7-D55D-4BAB-A788-4D393CE1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71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45755-6BA5-4F46-B37E-35D3CD3B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362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FC0F3-BBCF-44D9-B10E-03997602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502F6-D2BC-47DE-94A9-A3730C3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rPr>
              <a:t>3. rotate/constrain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5F96B-8A50-4599-BFCB-97E89ECC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closure, ground, concentration 조건으로 물리적 회전 탐색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C5C95-54BD-40CD-9383-82CDA40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3E06C-E4F8-4C94-84B7-8B68E202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71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27FB9-E5A6-4C59-99A1-FB2FFF39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2362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A3CE2-DCBD-4B50-8EFA-539C405E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4F4DD-FA62-4332-A1E7-45B8516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623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4. infer edges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8256A-D880-4AC1-B018-A7E01E0A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2019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first-order sparse/open generator로 화살표 후보를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7416E-4D90-4487-961C-9E9C3534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D54FC-0744-4776-8919-36558F61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핵심 전환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DBE75-0FE1-410F-BD70-1345CD4B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tensor decomposition을 최종 답으로 쓰는 대신, kinetics를 식별하기 위한 feature generator로 사용했다.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567584-47BC-4B9E-BCCD-916EEBB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03910-FED4-40BB-A8D9-8F578624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5235E3-A807-4512-B883-E0CF2F02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37917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09ED0-E934-4053-8A75-DB4930EF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8357F-930E-4573-89FE-1091AE37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B2B21-A821-434A-8DF0-61571520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 CONSTRUCTION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2A385-4EEC-46F1-8B14-4B1BF651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delay/tau 축의 의미를 계속 조정했다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683B5-FFDD-474D-9BF0-0466D841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tau 축에는 각 성분의 lifetime 정보가 들어가길 원했다. 그래서 t-delay, t+delay, logspace 재구성, negative time 처리 등을 차례로 검토했다.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416F7-5BB3-4B38-B760-634864E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D2E9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F98A2-E926-4484-A832-896AF58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what tensor added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B5AC4-91DC-44A5-A7C2-45F4CD6C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4D3C6-AEA0-413E-84B5-8365683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48050"/>
            <a:ext cx="287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q axis: 구조/spectrum 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BF5A-643F-4C20-B89F-9EB3396F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5BF25-7A0F-48E5-A905-ABCA6B97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43350"/>
            <a:ext cx="287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time axis: 농도 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E4C3E-3435-4052-9C67-8227D357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B3742-85EA-483E-8F10-7FC948F1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2876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delay/tau axis: lifetime contrast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1BF2B-A55C-4EA0-B46B-8047B20A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6066E-E80C-4179-92BE-7197C1D9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what was learned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8A0AD-42AB-4F22-895F-48F420E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1167D-BEC9-4665-B818-6C741A57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480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negative time을 자르지 않으면 원본과 더 유사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9DC5D-5A10-4139-B839-2F75A79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0BB37-9C1E-4E49-BBBE-61818327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logspace time grid가 lifetime 해석에 유리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CE848-D6F7-4E40-98B2-0377ED07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6458DE-0751-41CD-8944-85A099D8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tensor 축만으로 species가 자동 분리되진 않음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A9D6B-A0D8-4985-B81B-985E76A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ED368-123E-4778-B06B-56047DC1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1B460-5001-4E2A-8A55-30E626EC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35179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54192-B6F1-4B91-8A5D-8696C02A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EECC7-DA93-4C97-BE45-FA377A28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FF3DA-EAC2-49A7-B327-338EC01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CP-ALS LESSONS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4B59-A6AC-4400-ACC3-A762261B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비음수 CP-ALS는 유용했지만 최종 해답은 아니었다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5998F-6179-4724-A89D-409D373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q, time, tau 축에 비음수 조건을 걸면 안정성은 좋아지지만, species 해석에는 여전히 회전/스케일 자유도가 남았다.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A4DF9-AF86-4C66-BDB9-570CC56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36E53-5CCE-4CB0-9B19-D8A922C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비음수 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2FAC6-D70D-474A-96C3-A3159981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time/tau profile 안정화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89AE7-E9E9-45B0-9C3F-0D440288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농도 후보를 더 그럴듯하게 만듦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B4B8B-FE94-4EAE-98B6-34EB61A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051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9525">
            <a:solidFill>
              <a:srgbClr val="247A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9A63E-0A54-45DD-AF00-1BC23FC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A86C1-5974-4CD2-89BA-D98103B9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6E6AC-7767-46E0-BD96-7EA08C44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rank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5E8D2-8B39-4BAA-A408-0018016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mock truth는 3 active species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53EDE-5271-44AC-AFE5-A6BB4CE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rank가 맞아도 회전 문제는 남음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57DE4-76AD-4C41-9508-EC1B39D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956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3C7A8-5BAB-4490-B2EE-D82D4A7D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7185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7B7F1-2D71-4B1B-A93E-B6C0E71A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4FACF-8984-4D97-B9D1-134C8C1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ground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A3482-B974-47B0-9FFE-7BE53298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24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 signal =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E0CF2-5AED-4C5F-9E9A-316D2A6F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분해 성분으로 직접 잡기 어려움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E7416-C750-44EA-8462-1B3762A9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862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750F8-2188-44E5-8504-CBA27BC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BFA14-D9A6-4CF5-A542-E48407A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56688-3C7F-4EEC-BDEA-50E0CBA2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branch/parallel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CAFF6-3944-4DB3-8057-28FC07E1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14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shape는 맞을 수 있음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9A50F-CB16-48FF-B43E-481C4E2A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fraction/weight는 scale로 흡수됨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0A362-3529-4507-99CD-3958A7B3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76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44CA9-9EC1-4F3B-9CDC-433D927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8C6DC-5B85-4566-815C-865BB980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F4FE2E-7202-4787-9F22-7DC03D3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959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901F3-7F88-4567-9B4A-147331B3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578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CP-ALS는 후보 좌표계를 주지만, 화학적 화살표는 별도 kinetic constraint가 필요했다.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F9085-7846-421A-86B5-EE0F256A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C5F08E-FBE9-4F31-BE9F-FBB263AE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859DA-5E1C-4EC0-BA3E-33566E1C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52412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FD949-2286-4673-972C-C35ECEF7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26E08-F6E7-403C-A9C9-A43EC69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FCCB4-084C-45AD-A88C-CB8059E1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PIVOT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F4376-A9A2-4E63-9999-09BEFC2F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전환점은 open first-order generator였다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6F7A6-9907-40A0-889B-DA83E7BE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모든 가능한 화살표를 열어둔 뒤, 데이터와 맞지 않거나 불필요한 rate를 0으로 닫는 방식으로 바뀌었다.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60ACA-7C03-48A5-9DB3-D6E91901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162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8FC2F-0BF6-4DFA-930E-7B9D44D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open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32D47-1D9B-4F01-BF67-A6EF2528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I1 -&gt; I2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I1 -&gt; I3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I1 -&gt; G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I2 -&gt; I3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I2 -&gt; G</a:t>
            </a:r>
          </a:p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I3 -&gt; 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C4443-A560-46EB-97B0-D8A654DD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3162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BD39-1BF1-4D76-9D35-EB75D9F2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4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78418"/>
                </a:solidFill>
                <a:latin typeface="Aptos"/>
                <a:ea typeface="Aptos"/>
                <a:cs typeface="Aptos"/>
              </a:rPr>
              <a:t>fit + sparsity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FD489-FC65-4D50-9C50-0BEA367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D4312-E110-4FB2-BB4B-76B5999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first-order kinetics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9A3DE-77B2-42EF-82F9-DDD225A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7C1FF-5822-42C5-8008-6D19CFED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nonnegative concentrations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8239B-0A22-4B1D-BB20-DD186C0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72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648D2-A3FF-451D-BDA2-997EF257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924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small edges pruned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1752D-0E14-42C1-A009-600ACBB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162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F"/>
          </a:solidFill>
          <a:ln xmlns:a="http://schemas.openxmlformats.org/drawingml/2006/main" w="9525">
            <a:solidFill>
              <a:srgbClr val="D8EB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11A67-E1F9-46A5-9F37-85253203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selected arrows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8BF23-4E57-4E34-AB14-2C768F0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surviving rates become the inferred reaction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FE83A-F1C9-41FB-919F-2692240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71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4CFB5-3598-4DA7-B715-5B76DC2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05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515BC-89A9-45C5-9091-34420A68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27514-2DF4-4EC0-BE89-4C9F7E14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05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75403-5E0B-445C-92C7-2C4E9957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45AC3-1907-48D9-9DAF-ED5E260C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723EE-E50C-4D96-8151-58561607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70985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1D5BE-DDA6-4F5F-A9A1-4D8ADA27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646D3-72C6-47B9-B572-FFAD3F3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7CE1A-53C6-4F9A-A1FF-C9E26BC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SEQUENTIAL MOCK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74F4F-E6E8-4132-9DA5-A9E91E49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sequential mock에서는 목적에 꽤 가까이 도달했다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E130-50DB-4BBD-9123-98553621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열어둔 경로 중 1-&gt;2, 2-&gt;3, 3-&gt;ground가 살아남고 직접 ground로 가는 불필요한 경로는 닫혔다.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95069-1181-4F24-B21F-A6151EE8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EBD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e851052d74a19"/>
          <a:stretch xmlns:a="http://schemas.openxmlformats.org/drawingml/2006/main"/>
        </p:blipFill>
        <p:spPr>
          <a:xfrm xmlns:a="http://schemas.openxmlformats.org/drawingml/2006/main">
            <a:off x="1591573" y="2400300"/>
            <a:ext cx="3465303" cy="228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34130-BC48-46F1-9373-521F25C1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recovered concentration profiles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394C2-B379-4597-B666-2EB4C66F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EBD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97c98ea7c4a37"/>
          <a:stretch xmlns:a="http://schemas.openxmlformats.org/drawingml/2006/main"/>
        </p:blipFill>
        <p:spPr>
          <a:xfrm xmlns:a="http://schemas.openxmlformats.org/drawingml/2006/main">
            <a:off x="7362960" y="2400300"/>
            <a:ext cx="3371579" cy="2286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AE040-4056-4E22-8534-946307B5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A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7A45"/>
                </a:solidFill>
                <a:latin typeface="Aptos"/>
                <a:ea typeface="Aptos"/>
                <a:cs typeface="Aptos"/>
              </a:rPr>
              <a:t>open-generator rates after pruning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FF4E2-3B3F-4FF5-9EC3-E691DE5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F99C0-E546-4B35-B7B2-BB51ECB2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0.00077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BDD09-1839-4B9C-90F8-A697A071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zero-lag relative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C5989-35E5-4705-9F77-D82F332A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0E220-9AFA-42B4-9925-2DACF62B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769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0.00080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B1924-8544-4899-A5BD-F19826B4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579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full tensor relative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F0188-7FF5-44EC-AB7B-9D8AEB8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626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9F5836-A283-45C4-BD45-E5BF6F20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769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1-&gt;2-&gt;3-&gt;G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1AF83-4914-49E4-9819-E3DB927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recovered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A2075-7B27-495D-80D2-A8FBC64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A546E-2A2D-4A6E-B6DC-9EDA4327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82CE1-66AF-4A96-B16E-E3C19BE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46129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4D056-BC43-45C1-9ACD-B2A7A38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AF575-FFAF-4431-A95B-D233C862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35F92-E5C1-49D5-9F50-0986ACD0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BRANCH / PARALLEL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3B52A-DCE7-4918-B2FE-61BE458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branch와 parallel 검증이 과대해석을 막아줬다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AB897-956D-4781-B29D-021C67F0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Debye equation + atomic form factor mock으로 테스트하자, free spectrum 성공과 prior-assisted 성공이 명확히 갈렸다.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E4064-A761-47A6-BA0C-5F160FC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3C8DA-4D6C-4897-87CB-11EB14B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free q-spectrum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F118B-5F04-4CEC-A19F-E3BD74A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branch fraction [0.706,0.294]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B9567-B4FE-4971-B0F8-3F86A85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estimated [1.000,0.000]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E227D-1314-497C-BA72-9B6678D9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051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32657-90AE-4220-B821-DD729B59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E15F7-48BC-4990-A167-AE05DE4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5B6F7-8F95-42F2-88A4-FBBC55E5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free q-spectrum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64BB2-96CC-4CFA-B14F-4F8EF36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337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parallel weights [0.52,0.31,0.17]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9C4A3-2E65-4AE1-B6A1-EA067535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estimated [0.998,0.001,0.0006]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16C2C-9642-439D-8A95-7CAE33A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956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A016C-4762-458A-B338-83F722E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7185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74B69-9D48-44BF-A0F2-E8BA62D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184B6-92EA-4DD5-8A0A-04FB5DCD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Debye scale prior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EE18D-B613-4432-ACAD-1A35C867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24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branch fraction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33091-78A5-4EB6-97E0-1168E091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[0.7061,0.2939]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CAD99-9F40-425C-AE90-176375B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862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709F7-5F65-49D6-826F-BF635C74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PASS*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A7A67-69B3-4B66-B7FE-C5657EE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69B41-A5E2-408B-B906-8B8AB80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Debye scale prior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493DC-4BC5-4426-9341-CB350534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148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parallel weights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3A616-6552-4C61-8CCA-F0C10E97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148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[0.51999,0.30998,0.17003]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D6DCD-A198-4E26-8A49-F0B14178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76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73916-0246-4EDB-BDB3-FE89C0E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990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PASS*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DAF64-9E69-4B1A-ACF5-E76A16B1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F59DB4-03CD-4282-BFE4-65E80CB2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959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58A90-25D5-41E4-A0A1-FD02EE1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57850"/>
            <a:ext cx="649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화살표 추론은 유망하지만, blind tensor-only 주장과 prior-assisted recovery는 구분해야 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1ED58-6812-46B0-9FA1-0FDF091F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BD65C-611B-497D-BB4F-5BC2D51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BEE8F2-1895-436C-A0AF-C6C51C1B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88870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609522-F1D3-49AA-8925-7000E5C5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9"/>
          </a:solidFill>
          <a:ln xmlns:a="http://schemas.openxmlformats.org/drawingml/2006/main" w="0">
            <a:solidFill>
              <a:srgbClr val="14191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C2261-CDC2-49A5-BAFF-E8526665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D9"/>
          </a:solidFill>
          <a:ln xmlns:a="http://schemas.openxmlformats.org/drawingml/2006/main" w="0">
            <a:solidFill>
              <a:srgbClr val="D8EB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C167C-A4AA-4B36-94D6-A3D0FEEC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WHAT HAS BEEN ACHIEVED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F789C-C80E-4E44-8138-BF856F5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달성 수준은 이렇게 보는 게 정직하다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F3CB-DEF9-4687-82EB-2F87FED9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rPr>
              <a:t>목표를 spectrum 완전분리가 아니라 화살표 방향 추론으로 두면, 성과는 꽤 있다. 다만 조건부다.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52A1C-51E2-48A4-B63C-C17FCC2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4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455EC-38C7-4D4E-AF5D-18A169E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E4056-265F-4766-A673-C7CDC18F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47A45"/>
                </a:solidFill>
                <a:latin typeface="Malgun Gothic"/>
                <a:ea typeface="Malgun Gothic"/>
                <a:cs typeface="Malgun Gothic"/>
              </a:rPr>
              <a:t>strong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40376-26F3-4A5B-8F03-31930FD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2647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sequential mock</a:t>
            </a:r>
          </a:p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open generator가 정답 경로와 매우 유사한 1-&gt;2-&gt;3-&gt;G를 찾음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9A7E1-8D4B-4DBB-B121-99F2CCE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314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1332D-3FCE-417A-91B2-2D9A06A9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1FA09-A217-43C6-8B05-6B41696C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78418"/>
                </a:solidFill>
                <a:latin typeface="Malgun Gothic"/>
                <a:ea typeface="Malgun Gothic"/>
                <a:cs typeface="Malgun Gothic"/>
              </a:rPr>
              <a:t>conditional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1B743-D10B-4FF0-8675-CFDC8AFE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647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branch / parallel</a:t>
            </a:r>
          </a:p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Debye scale 등 외부 물리 제약이 있으면 경로/분율 안정화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F7AE1-10D4-4DF5-9A82-1A17320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314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634E8-2344-4B7F-BF50-B1FF334D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55FBE-AB40-46F6-A5EE-E8CBBF39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861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C2B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2C2BA"/>
                </a:solidFill>
                <a:latin typeface="Malgun Gothic"/>
                <a:ea typeface="Malgun Gothic"/>
                <a:cs typeface="Malgun Gothic"/>
              </a:rPr>
              <a:t>not yet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A372C-9AA8-42AC-9BB1-F90E8BFE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2647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pure identifiability</a:t>
            </a:r>
          </a:p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CP/tensor decomposition의 유일성만으로 topology가 자동 결정됐다고 말하긴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BECF5-A362-4776-876A-5E99C567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2B718-065E-4F87-B909-BD7A2CA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Current claim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A6A48-B778-4485-B380-57B4B0E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95181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FD0D1C-4DDB-49AE-A1EE-5AB63FB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1B47-6BB8-4D7D-8532-A6741A1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872F7-41D5-405F-81BA-9458A7CC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SOLVENT HEATING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2AE7E-6191-4C3F-AD41-B9688FB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solvent heating이 섞이면 blind 문제는 더 어려워진다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E2ECF-DF6F-4B13-B394-1E1BA8C5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heating은 chemical species가 아니지만 q-time 신호로는 kinetic component처럼 보인다. 그래서 별도 nuisance model로 분리해야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568A-3B97-4078-BFCC-26E5A714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FD457-EB0D-4028-9BAA-7B49EB93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B2A56-07E1-427B-90C6-341A28EB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6348E-7DEB-4BA0-9048-3AF88D03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broad q-spectrum이 중간체 signal과 겹침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0A605-CD43-49D7-ACB2-333D0428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DDFE0-C2A4-4280-AB0F-D13A9570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rise/decay가 농도 profile처럼 보임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1C03D-2222-49CE-AFEE-CA72151E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7CA26-F0D6-47BE-A072-079CC1D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148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가짜 edge 또는 가짜 intermediate 유발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AD32E-20B5-41D0-876C-49111E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D2E9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6E11D-C823-4CB0-929D-76BD943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safer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C8C37-5F7C-427E-9931-55E81476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E0980-563C-43D2-9E78-259CD317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dye-only signal을 SVD해서 heating basis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2470C-E7C7-40D3-A2FC-1C740D10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C15C9-3D4B-42E6-95B2-9E261D0A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linear regression으로 먼저 subtraction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E4594-8C4F-4BC1-9120-3AE16C9C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91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C15B0-2E9F-4C9C-B6E8-881F9ED9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final structure fitting에서 nuisance coefficient로 재허용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76AF8-59AE-4704-BA81-B6A7EB59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0EB4B-52E7-4D40-AE0B-2EBDABEF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85154-169A-4F6E-B9F5-F56A15A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90440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737F5-351B-4EA1-A48D-A045FE6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4EF65-5A8B-421E-8132-06B86098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DD52C-0A3D-4465-AE24-D0862AEC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RECOMMENDED NEXT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65DE8-0044-47A8-8BAB-2A9D64AD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다음 단계는 semi-blind chemical topology fitting이다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9F8C0-210D-4016-96F2-669E0680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완전 blind decomposition보다, 측정된 heating basis와 chemical generator를 같이 쓰는 방식이 실제 데이터에 더 안전하다.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1F599-A5CD-41BD-B173-B282978A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669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C3B07-0946-4EAC-8F20-306AA7B1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DA4FE-0B84-4964-8F92-FAB57E8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5AAAE-4496-4D17-A758-A39A8A22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dye SVD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8A1D2-A8FD-4544-B0EC-9F03F243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solvent heating basis 3-4개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EB6ED-9971-443C-8CEE-5F4AEC0E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84BEC-D6B8-478E-AFF5-10D2B29C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76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269FD-7425-4806-9EE4-C5E419A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95600"/>
            <a:ext cx="18669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17F22-3F39-49FB-A85A-55613AE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9560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14D45-C1AD-4060-9697-C7CCE31E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FAC2A-AE08-4E2C-B22D-133A75DF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76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subtract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F5141-1B7A-4913-9BE1-88DDAFE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linear regression으로 background 제거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297AA-7D13-4BC9-938E-DD51C8AF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D0F12-2E5C-42ED-B7A5-1CEAFCBA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76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28253-AD46-4A1D-9A46-43C367B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8669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D2271-5CED-47D8-869C-A22030D9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05B3A-6567-4BD6-8912-0EA8AC76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75285-DD2C-4C04-A02E-340A0701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76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tensorize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17A43-BD3F-4DE2-8F22-584C769E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338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residual chemical signal을 delay/tau tensor로 확장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90455-9E9A-4A92-BF81-6CAC89F5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00876-6FBC-461A-A799-3B0AA54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76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4713C-4655-467F-8FDD-12AE2CE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18669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6E25E-D186-4164-9A5C-F5FF5A17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9560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6ED04-4C77-49B4-863B-399A1C1E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81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CDFE18-320F-414A-87FD-C3DA516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159A1-02CA-4513-924C-47335593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open first-order graph에서 sparse edge 선택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F10FC1-2BAA-43C4-9FA9-4849508C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5F67D-A37A-4500-A4FB-F4D94BF7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76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EF7501-6BF6-4AED-8A06-29824142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8669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CEB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B1929D-4307-4BB1-B7CE-A2C770F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866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C"/>
          </a:solidFill>
          <a:ln xmlns:a="http://schemas.openxmlformats.org/drawingml/2006/main" w="0">
            <a:solidFill>
              <a:srgbClr val="315F8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45BB24-22BE-466B-86FC-35A0776E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F1A699-B37C-45B5-9A84-425FD6B5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766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refit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7E3470-38B1-42D7-B5F2-06DC020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338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마지막 구조 fitting에서 heating coefficient 재포함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48389B-880A-4D83-A2DA-BE1F536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9DAC80-FDA1-40AA-ADF5-2981787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Tensor-to-kinetic topology project summary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37D4DA-4AC7-487B-A678-814D782D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36219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28CB5-04FE-47D5-AA2A-0438FC67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6BE9F-AE79-448F-ADA2-2560CD1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C2FEE-5B35-4C62-B7FB-78875FFD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READING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B4D37-8EAE-45BE-9271-22B970D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 PPT를 먼저 보고, 기존 네 개를 순서대로 보면 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5D005-2260-4AA3-BB2E-548CDEC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25E56"/>
                </a:solidFill>
                <a:latin typeface="Malgun Gothic"/>
                <a:ea typeface="Malgun Gothic"/>
                <a:cs typeface="Malgun Gothic"/>
              </a:rPr>
              <a:t>이번 deck은 전체 지도다. 세부 수식과 검증 그림은 아래 파일들에 나눠져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50BF0-5256-4A71-A9DE-B41F06F0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0DF66-791D-4A6B-A2F0-78E33988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9"/>
          </a:solidFill>
          <a:ln xmlns:a="http://schemas.openxmlformats.org/drawingml/2006/main" w="9525">
            <a:solidFill>
              <a:srgbClr val="14191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7F7E-9D1E-479A-A95B-9A528E4B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B3D22-D4D6-4806-B8C2-5B20445D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955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overall_process_summary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4E2D1-0BFD-47C4-8B08-D64DE5FE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955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지금 파일: 전체 흐름과 결론 경계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10256-5AF1-4385-BDE2-6B10BE9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86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EB6D6-190C-48F6-9A48-B63686CA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924DB-511E-46E4-B883-E871F83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6230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D5A14-9F42-40E5-88A4-A4408428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24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method_overview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88DA2-CFE1-4B92-A1F0-75D3378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sparse generator 접근의 방법 개요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850AF-2386-4C70-B7AD-F52EACD3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C2200-8EB2-4791-91F9-7006ABF0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D46BB-099F-4F4C-ADDC-FF4A4465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9EDF4-3523-4375-8A75-921EFEBE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528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identifiability_detail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7BFE7-33A9-4C82-9F44-F06192D6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tensor identifiability와 closure/rotation 논의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416BD-8079-4338-B8DA-D54DDC28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FE334-BBB6-4393-8E29-250C4A3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EB4A6-1126-405F-86CB-F0BDBCC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486A8-4C2A-4015-8D29-3E1B0DC5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815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sequential_validation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C78DF-3CE7-4DC3-AFD3-F8B17D8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sequential mock에서 open generator 검증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A8E55-57D4-4577-B9EE-0D531F7E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721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07FAE-7D82-4E84-845F-E5994909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D22D8-920B-4300-AE7F-24D6B57B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48250"/>
            <a:ext cx="5143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FD4AD-CF75-4BBF-838D-E4B54C2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01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branch_parallel_evaluation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A116A-54AE-42FC-8167-39F35AB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Debye branch/parallel의 객관 평가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CB69E-B52D-4C67-ABB6-1DF7B042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BD"/>
          </a:solidFill>
          <a:ln xmlns:a="http://schemas.openxmlformats.org/drawingml/2006/main" w="0">
            <a:solidFill>
              <a:srgbClr val="D9CEB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587789-CE6D-4AB8-99F1-9875BBF6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5E56"/>
                </a:solidFill>
                <a:latin typeface="Aptos"/>
                <a:ea typeface="Aptos"/>
                <a:cs typeface="Aptos"/>
              </a:rPr>
              <a:t>Recommended deck order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1B474-4684-4DB8-85C8-7F88F06B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5E5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25E5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5577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2026-05-18T04:36:11.6200000Z</dcterms:created>
  <dcterms:modified xsi:type="dcterms:W3CDTF">2026-05-18T04:36:11.6200000Z</dcterms:modified>
</coreProperties>
</file>