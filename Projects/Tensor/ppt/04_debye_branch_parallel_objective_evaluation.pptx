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2c639e47f3433b" /><Relationship Type="http://schemas.openxmlformats.org/officeDocument/2006/relationships/extended-properties" Target="/docProps/app.xml" Id="R796e4dd3851d45f5" /><Relationship Type="http://schemas.openxmlformats.org/officeDocument/2006/relationships/officeDocument" Target="/ppt/presentation.xml" Id="R6b6c52377aad4bb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b51c60a9724465d"/>
  </p:sldMasterIdLst>
  <p:notesMasterIdLst>
    <p:notesMasterId xmlns:r="http://schemas.openxmlformats.org/officeDocument/2006/relationships" r:id="R7411391fb04b4b15"/>
  </p:notesMasterIdLst>
  <p:sldIdLst>
    <p:sldId xmlns:r="http://schemas.openxmlformats.org/officeDocument/2006/relationships" id="256" r:id="Rbd96fd7e2cab4457"/>
    <p:sldId xmlns:r="http://schemas.openxmlformats.org/officeDocument/2006/relationships" id="257" r:id="Rcb393910e7734d8d"/>
    <p:sldId xmlns:r="http://schemas.openxmlformats.org/officeDocument/2006/relationships" id="258" r:id="Re11fc6b9f29343eb"/>
    <p:sldId xmlns:r="http://schemas.openxmlformats.org/officeDocument/2006/relationships" id="259" r:id="Rd78ce79e6b4247c4"/>
    <p:sldId xmlns:r="http://schemas.openxmlformats.org/officeDocument/2006/relationships" id="260" r:id="Ra1edb3d47fa944eb"/>
    <p:sldId xmlns:r="http://schemas.openxmlformats.org/officeDocument/2006/relationships" id="261" r:id="R4a4d1c4dc98249d0"/>
    <p:sldId xmlns:r="http://schemas.openxmlformats.org/officeDocument/2006/relationships" id="262" r:id="R66424cf0537e4b24"/>
    <p:sldId xmlns:r="http://schemas.openxmlformats.org/officeDocument/2006/relationships" id="263" r:id="R99ced9e02e12401f"/>
    <p:sldId xmlns:r="http://schemas.openxmlformats.org/officeDocument/2006/relationships" id="264" r:id="Rfede9b67a3d94ce1"/>
    <p:sldId xmlns:r="http://schemas.openxmlformats.org/officeDocument/2006/relationships" id="265" r:id="R115e380b302a456e"/>
    <p:sldId xmlns:r="http://schemas.openxmlformats.org/officeDocument/2006/relationships" id="266" r:id="R1a4e3db2ba694df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51c60a9724465d" /><Relationship Type="http://schemas.openxmlformats.org/officeDocument/2006/relationships/theme" Target="/ppt/theme/theme1.xml" Id="Rff2ad698ca7e4381" /><Relationship Type="http://schemas.openxmlformats.org/officeDocument/2006/relationships/notesMaster" Target="/ppt/notesMasters/notesMaster1.xml" Id="R7411391fb04b4b15" /><Relationship Type="http://schemas.openxmlformats.org/officeDocument/2006/relationships/presProps" Target="/ppt/presProps.xml" Id="Re4c637e08dee4464" /><Relationship Type="http://schemas.openxmlformats.org/officeDocument/2006/relationships/viewProps" Target="/ppt/viewProps.xml" Id="R76e562ebfb944f7c" /><Relationship Type="http://schemas.openxmlformats.org/officeDocument/2006/relationships/tableStyles" Target="/ppt/tableStyles.xml" Id="R8f862258036d40dd" /><Relationship Type="http://schemas.openxmlformats.org/officeDocument/2006/relationships/slide" Target="/ppt/slides/slide1.xml" Id="Rbd96fd7e2cab4457" /><Relationship Type="http://schemas.openxmlformats.org/officeDocument/2006/relationships/slide" Target="/ppt/slides/slide2.xml" Id="Rcb393910e7734d8d" /><Relationship Type="http://schemas.openxmlformats.org/officeDocument/2006/relationships/slide" Target="/ppt/slides/slide3.xml" Id="Re11fc6b9f29343eb" /><Relationship Type="http://schemas.openxmlformats.org/officeDocument/2006/relationships/slide" Target="/ppt/slides/slide4.xml" Id="Rd78ce79e6b4247c4" /><Relationship Type="http://schemas.openxmlformats.org/officeDocument/2006/relationships/slide" Target="/ppt/slides/slide5.xml" Id="Ra1edb3d47fa944eb" /><Relationship Type="http://schemas.openxmlformats.org/officeDocument/2006/relationships/slide" Target="/ppt/slides/slide6.xml" Id="R4a4d1c4dc98249d0" /><Relationship Type="http://schemas.openxmlformats.org/officeDocument/2006/relationships/slide" Target="/ppt/slides/slide7.xml" Id="R66424cf0537e4b24" /><Relationship Type="http://schemas.openxmlformats.org/officeDocument/2006/relationships/slide" Target="/ppt/slides/slide8.xml" Id="R99ced9e02e12401f" /><Relationship Type="http://schemas.openxmlformats.org/officeDocument/2006/relationships/slide" Target="/ppt/slides/slide9.xml" Id="Rfede9b67a3d94ce1" /><Relationship Type="http://schemas.openxmlformats.org/officeDocument/2006/relationships/slide" Target="/ppt/slides/slide10.xml" Id="R115e380b302a456e" /><Relationship Type="http://schemas.openxmlformats.org/officeDocument/2006/relationships/slide" Target="/ppt/slides/slide11.xml" Id="R1a4e3db2ba694df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fbe3bdd3133b46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212d0f99e046a8" /><Relationship Type="http://schemas.openxmlformats.org/officeDocument/2006/relationships/notesMaster" Target="/ppt/notesMasters/notesMaster1.xml" Id="Rfa3b8913c81b4d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6db7f6091c4fc7" /><Relationship Type="http://schemas.openxmlformats.org/officeDocument/2006/relationships/notesMaster" Target="/ppt/notesMasters/notesMaster1.xml" Id="Raf1c7a8445d7400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7097297b49944bc" /><Relationship Type="http://schemas.openxmlformats.org/officeDocument/2006/relationships/notesMaster" Target="/ppt/notesMasters/notesMaster1.xml" Id="Rcef830b2a25447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7b33340ee284f35" /><Relationship Type="http://schemas.openxmlformats.org/officeDocument/2006/relationships/notesMaster" Target="/ppt/notesMasters/notesMaster1.xml" Id="R0d34e531f447415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1f20411df1e47e4" /><Relationship Type="http://schemas.openxmlformats.org/officeDocument/2006/relationships/notesMaster" Target="/ppt/notesMasters/notesMaster1.xml" Id="Re8269e07bb284b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91593c65f7443b" /><Relationship Type="http://schemas.openxmlformats.org/officeDocument/2006/relationships/notesMaster" Target="/ppt/notesMasters/notesMaster1.xml" Id="R983d29455e9c437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c7eca5d87fc4e0f" /><Relationship Type="http://schemas.openxmlformats.org/officeDocument/2006/relationships/notesMaster" Target="/ppt/notesMasters/notesMaster1.xml" Id="Rf5b545abde3f4ad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bd95683ba2140f0" /><Relationship Type="http://schemas.openxmlformats.org/officeDocument/2006/relationships/notesMaster" Target="/ppt/notesMasters/notesMaster1.xml" Id="R9b0a60073ff94dd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f88450a18964339" /><Relationship Type="http://schemas.openxmlformats.org/officeDocument/2006/relationships/notesMaster" Target="/ppt/notesMasters/notesMaster1.xml" Id="R874dd91bf25142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adab3e7a28c42d9" /><Relationship Type="http://schemas.openxmlformats.org/officeDocument/2006/relationships/notesMaster" Target="/ppt/notesMasters/notesMaster1.xml" Id="R81b40a5746804b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4ec0c38d8b482a" /><Relationship Type="http://schemas.openxmlformats.org/officeDocument/2006/relationships/notesMaster" Target="/ppt/notesMasters/notesMaster1.xml" Id="R2fd44ac92d544b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6270bde37d403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9e9ba0999f924108" /><Relationship Type="http://schemas.openxmlformats.org/officeDocument/2006/relationships/slideLayout" Target="/ppt/slideLayouts/slideLayout2.xml" Id="R6b7192c82acc4a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7192c82acc4a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9b359c5c204c2a" /><Relationship Type="http://schemas.openxmlformats.org/officeDocument/2006/relationships/notesSlide" Target="/ppt/notesSlides/notesSlide1.xml" Id="R3fe63497c59047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0e0558a86114a27" /><Relationship Type="http://schemas.openxmlformats.org/officeDocument/2006/relationships/notesSlide" Target="/ppt/notesSlides/notesSlide2.xml" Id="Rc364657a56ef4d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27fa19cc41147be" /><Relationship Type="http://schemas.openxmlformats.org/officeDocument/2006/relationships/notesSlide" Target="/ppt/notesSlides/notesSlide3.xml" Id="R52dec8dc609844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c3795337d04ff7" /><Relationship Type="http://schemas.openxmlformats.org/officeDocument/2006/relationships/notesSlide" Target="/ppt/notesSlides/notesSlide4.xml" Id="Rfbde8be6e53045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b06eec536d459a" /><Relationship Type="http://schemas.openxmlformats.org/officeDocument/2006/relationships/notesSlide" Target="/ppt/notesSlides/notesSlide5.xml" Id="R02e411feddc144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ae1d2ac0df4bba" /><Relationship Type="http://schemas.openxmlformats.org/officeDocument/2006/relationships/notesSlide" Target="/ppt/notesSlides/notesSlide6.xml" Id="Rb58948a0e3154f5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31e860e27d14184" /><Relationship Type="http://schemas.openxmlformats.org/officeDocument/2006/relationships/notesSlide" Target="/ppt/notesSlides/notesSlide7.xml" Id="Rfd0ebbc93fe5437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70e5ecb5d6345e4" /><Relationship Type="http://schemas.openxmlformats.org/officeDocument/2006/relationships/image" Target="/ppt/media/image.png" Id="Rca44d4a83d884158" /><Relationship Type="http://schemas.openxmlformats.org/officeDocument/2006/relationships/image" Target="/ppt/media/image2.png" Id="R264a81ed9c6d468d" /><Relationship Type="http://schemas.openxmlformats.org/officeDocument/2006/relationships/image" Target="/ppt/media/image3.png" Id="Ra2a8a164a0754c4c" /><Relationship Type="http://schemas.openxmlformats.org/officeDocument/2006/relationships/image" Target="/ppt/media/image4.png" Id="Raf088f79db774671" /><Relationship Type="http://schemas.openxmlformats.org/officeDocument/2006/relationships/notesSlide" Target="/ppt/notesSlides/notesSlide8.xml" Id="R0f3dbe05d18c45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f46f7750424008" /><Relationship Type="http://schemas.openxmlformats.org/officeDocument/2006/relationships/notesSlide" Target="/ppt/notesSlides/notesSlide9.xml" Id="R9f88c188b11745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70f0bb20df4321" /><Relationship Type="http://schemas.openxmlformats.org/officeDocument/2006/relationships/notesSlide" Target="/ppt/notesSlides/notesSlide10.xml" Id="R6c6ffbbaba444ce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7c9904f4c945c0" /><Relationship Type="http://schemas.openxmlformats.org/officeDocument/2006/relationships/notesSlide" Target="/ppt/notesSlides/notesSlide11.xml" Id="R74e4251ec3fc438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22B3E0-2ED7-4A00-86F7-C0DCF318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A"/>
          </a:solidFill>
          <a:ln xmlns:a="http://schemas.openxmlformats.org/drawingml/2006/main" w="0">
            <a:solidFill>
              <a:srgbClr val="151A1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644B1-B3F8-4162-A867-B3ABF8055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BA"/>
          </a:solidFill>
          <a:ln xmlns:a="http://schemas.openxmlformats.org/drawingml/2006/main" w="0">
            <a:solidFill>
              <a:srgbClr val="F2C2B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92D02D-01FA-4890-AF6D-D40D538D8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OBJECTIVE VERDICT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54330-3E31-4A76-A352-9F821457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현재 검증을 blind 성공이라고 부르면 안 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6E23FF-4A3D-4FFE-967E-EFB457C3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9906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2C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8D2C8"/>
                </a:solidFill>
                <a:latin typeface="Malgun Gothic"/>
                <a:ea typeface="Malgun Gothic"/>
                <a:cs typeface="Malgun Gothic"/>
              </a:rPr>
              <a:t>free q-spectrum 조건에서는 branch fraction과 parallel weight가 실패했다. Debye spectrum scale prior를 넣은 경우만 조건부로 맞았다.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F7AB92-897F-45DE-A757-D88464A6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97155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2B"/>
          </a:solidFill>
          <a:ln xmlns:a="http://schemas.openxmlformats.org/drawingml/2006/main" w="9525">
            <a:solidFill>
              <a:srgbClr val="3A424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DC5D77-9AC9-4D25-BB34-CBF46445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528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2C2BA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F2C2BA"/>
                </a:solidFill>
                <a:latin typeface="Malgun Gothic"/>
                <a:ea typeface="Malgun Gothic"/>
                <a:cs typeface="Malgun Gothic"/>
              </a:rPr>
              <a:t>정정된 결론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8DCF4A-C04A-45ED-B73F-1B083A38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57550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reconstruction error가 낮아도 topology, fraction, weight가 틀리면 분리 성공이 아니다.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7C4D1B-9568-4990-A345-F371CDCB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81600"/>
            <a:ext cx="2381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BA"/>
          </a:solidFill>
          <a:ln xmlns:a="http://schemas.openxmlformats.org/drawingml/2006/main" w="0">
            <a:solidFill>
              <a:srgbClr val="F2C2B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461A5F-8133-49A3-852A-237AD93A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95900"/>
            <a:ext cx="2381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48B39E-CC41-494F-8F39-7671E36F5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76900"/>
            <a:ext cx="2381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FC8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FC8BD"/>
                </a:solidFill>
                <a:latin typeface="Aptos"/>
                <a:ea typeface="Aptos"/>
                <a:cs typeface="Aptos"/>
              </a:rPr>
              <a:t>free q-spectrum blind separation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E83560-B1C6-4397-A489-2FDCB8E5B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181600"/>
            <a:ext cx="2667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99D"/>
          </a:solidFill>
          <a:ln xmlns:a="http://schemas.openxmlformats.org/drawingml/2006/main" w="0">
            <a:solidFill>
              <a:srgbClr val="F0D99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F961F-C8F4-40C4-8712-991FBD72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95900"/>
            <a:ext cx="266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PASS*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CED60A-42AA-4B15-9A33-7D0A67E40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76900"/>
            <a:ext cx="2667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FC8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FC8BD"/>
                </a:solidFill>
                <a:latin typeface="Aptos"/>
                <a:ea typeface="Aptos"/>
                <a:cs typeface="Aptos"/>
              </a:rPr>
              <a:t>with Debye spectrum scale prior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B9D6F5-A14F-442D-9AE5-4AA481D54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181600"/>
            <a:ext cx="2857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36D01-51DC-4985-A4D7-426A0D2A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2959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NOT PURE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040D6-CFE1-46AD-9DFC-77854247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676900"/>
            <a:ext cx="2857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FC8B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FC8BD"/>
                </a:solidFill>
                <a:latin typeface="Aptos"/>
                <a:ea typeface="Aptos"/>
                <a:cs typeface="Aptos"/>
              </a:rPr>
              <a:t>not CP/tensor-only identifiability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5ADEAA-3AA9-4304-8817-1C423AB2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FBE"/>
          </a:solidFill>
          <a:ln xmlns:a="http://schemas.openxmlformats.org/drawingml/2006/main" w="0">
            <a:solidFill>
              <a:srgbClr val="DACFB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DC8782-FE95-4800-A53B-E3E7A86B1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5A53"/>
                </a:solidFill>
                <a:latin typeface="Aptos"/>
                <a:ea typeface="Aptos"/>
                <a:cs typeface="Aptos"/>
              </a:rPr>
              <a:t>Corrected interpretation after Debye branch/parallel mock 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74715B-3DDA-4792-841A-6C7BBAEC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96039864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A512546-23A1-4CCE-8774-20BAB6BD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A4701D-28CD-4882-AFF5-8FEBAA49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BF9D6C-CDE8-41CC-A81C-A0410F9A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SUCCESS CRITERIA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C5803-10FA-449F-AE06-3C7C829D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성공 기준은 residual이 아니라 physical recovery다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B725B-63D9-445E-B0C1-E8CFF8DD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5A5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5A53"/>
                </a:solidFill>
                <a:latin typeface="Malgun Gothic"/>
                <a:ea typeface="Malgun Gothic"/>
                <a:cs typeface="Malgun Gothic"/>
              </a:rPr>
              <a:t>branch/parallel 분리라고 주장하려면 아래 기준을 동시에 통과해야 한다. 낮은 오차 하나만으로는 부족하다.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B8B4B6-F198-48D0-BA12-1286A550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62250"/>
            <a:ext cx="939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FBE"/>
          </a:solidFill>
          <a:ln xmlns:a="http://schemas.openxmlformats.org/drawingml/2006/main" w="0">
            <a:solidFill>
              <a:srgbClr val="DACF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FCC66-08C7-42F5-8948-AE11DE55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71725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88376-9D6B-44D7-824B-52221DDC2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47925"/>
            <a:ext cx="1409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reconstruction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52149B-BA59-4BE2-8764-4037DD56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812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zero-lag/tensor residual이 낮아야 한다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D5AFC3-40BA-4B32-B6CE-33CB85B9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52800"/>
            <a:ext cx="939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FBE"/>
          </a:solidFill>
          <a:ln xmlns:a="http://schemas.openxmlformats.org/drawingml/2006/main" w="0">
            <a:solidFill>
              <a:srgbClr val="DACFB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9A2BCC-26FE-4FA2-A88B-59970397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962275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9525">
            <a:solidFill>
              <a:srgbClr val="007C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BF945B-B3C2-445D-9023-DA17C6C2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38475"/>
            <a:ext cx="1409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 spectrum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0F332-8C78-41CF-9BF4-632FF206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9718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각 Debye spectrum이 독립적으로 복원되어야 한다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77D95-5606-4468-9FB3-2883E19F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43350"/>
            <a:ext cx="939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FBE"/>
          </a:solidFill>
          <a:ln xmlns:a="http://schemas.openxmlformats.org/drawingml/2006/main" w="0">
            <a:solidFill>
              <a:srgbClr val="DACFB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565AE6-833E-4251-B6F5-410592F9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52825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9525">
            <a:solidFill>
              <a:srgbClr val="B5532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0B0036-7B26-4AAA-8217-14D57A7CC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29025"/>
            <a:ext cx="1409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concentration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AC9823-55BB-4F13-A8CA-DD654720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5623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shape뿐 아니라 amplitude/weight도 맞아야 한다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F0E6AE-7DDC-4CC4-9EA1-28618E94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33900"/>
            <a:ext cx="939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FBE"/>
          </a:solidFill>
          <a:ln xmlns:a="http://schemas.openxmlformats.org/drawingml/2006/main" w="0">
            <a:solidFill>
              <a:srgbClr val="DACFB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39B879-E87B-44E6-BFAB-CF63365F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43375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9525">
            <a:solidFill>
              <a:srgbClr val="247A45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02C820-973D-435D-A608-3F0CB6223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219575"/>
            <a:ext cx="1409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topology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85BE09-541A-43D4-9CB1-CF0948BB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15290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branch edge와 branch fraction이 맞아야 한다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2C002A-6035-4DEF-9E40-142FFCAD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24450"/>
            <a:ext cx="93916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FBE"/>
          </a:solidFill>
          <a:ln xmlns:a="http://schemas.openxmlformats.org/drawingml/2006/main" w="0">
            <a:solidFill>
              <a:srgbClr val="DACFB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D114E7-358F-45FD-8DED-BBD28F95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733925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336"/>
          </a:solidFill>
          <a:ln xmlns:a="http://schemas.openxmlformats.org/drawingml/2006/main" w="9525">
            <a:solidFill>
              <a:srgbClr val="A9433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D04A31-B715-4A26-96F0-BB483F374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10125"/>
            <a:ext cx="14097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blindness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B9B996-36B6-4DCE-AF8A-0B4526F4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7434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truth-derived spectrum norm/scale을 쓰면 blind가 아니다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8EBBFC-6FD9-492D-AF5A-6124AEE4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FBE"/>
          </a:solidFill>
          <a:ln xmlns:a="http://schemas.openxmlformats.org/drawingml/2006/main" w="0">
            <a:solidFill>
              <a:srgbClr val="DACFB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5C2CFF-AC51-45B0-BB96-90E5D0C1F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5A53"/>
                </a:solidFill>
                <a:latin typeface="Aptos"/>
                <a:ea typeface="Aptos"/>
                <a:cs typeface="Aptos"/>
              </a:rPr>
              <a:t>Objective Debye branch/parallel evaluation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A4EE8A-F79F-4AA0-8CC7-E8E73942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3105314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B6031E-3CF7-43A7-A77A-501825CE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FF3DED-F07B-43BC-821D-CD7C28D6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588602-4268-4FA0-9571-1362E9441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TEST SETUP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A71490-58DE-4376-82C6-9ED138AB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mock는 Debye equation과 atomic form factor로 만들었다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EB3F5-2E76-4212-979C-E085F21B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5A5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5A53"/>
                </a:solidFill>
                <a:latin typeface="Malgun Gothic"/>
                <a:ea typeface="Malgun Gothic"/>
                <a:cs typeface="Malgun Gothic"/>
              </a:rPr>
              <a:t>q-spectrum은 구조 변화에서 나온 Delta S(q)이고, kinetics는 branch와 parallel을 각각 독립적으로 구성했다.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CE064C-A1F5-4358-9ABC-526494A3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47625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9525">
            <a:solidFill>
              <a:srgbClr val="CFE9E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808A2-C5AA-4AA9-A9A4-2B3C2AB81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813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Debye spectrum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96CB4F-5EEA-4F9C-BACE-1517FC01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3905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I(q) = sum_i sum_j f_i(q) f_j(q)</a:t>
            </a:r>
          </a:p>
          <a:p xmlns:a="http://schemas.openxmlformats.org/drawingml/2006/main">
            <a:pPr algn="l">
              <a:defRPr sz="15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       * sin(q r_ij)/(q r_ij)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88877-DF08-4D9A-9CA5-25CC4B30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24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55F858-7872-4C67-92AC-24FC03FBD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48150"/>
            <a:ext cx="3162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C/N/O/S atomic form factor 사용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45B66B-862B-4FAA-895C-7CA33D510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7625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520747-B26E-4EC9-AA51-8FFC01BF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3162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ground 대비 Delta S(q) 생성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CB5681-6A48-4756-AD9E-E0AE72DD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38400"/>
            <a:ext cx="4762500" cy="2743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F3CAB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30E033-C619-4AA7-A3CC-3A25B788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813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553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5532C"/>
                </a:solidFill>
                <a:latin typeface="Aptos"/>
                <a:ea typeface="Aptos"/>
                <a:cs typeface="Aptos"/>
              </a:rPr>
              <a:t>Kinetic cases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1D59D-3F43-45A1-BC2D-84052777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480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DF83BA-280D-461E-A31F-066E7474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71850"/>
            <a:ext cx="3162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branch: 1 -&gt; 2 and 1 -&gt;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CCD7EE-2EB8-4201-B7E2-9028F28B0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814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09645C-24C3-4800-82F9-EFA2E2C4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905250"/>
            <a:ext cx="3162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parallel: independent exponential channels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5515CC-3765-4B7C-A834-704AEF0D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148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E2259B-776F-41D5-BDAE-175D41A5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38650"/>
            <a:ext cx="31623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delay tensor: t + delay surface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FA68B-513C-4A1E-9B10-1B2D9B4E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FBE"/>
          </a:solidFill>
          <a:ln xmlns:a="http://schemas.openxmlformats.org/drawingml/2006/main" w="0">
            <a:solidFill>
              <a:srgbClr val="DACFB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706A5A-BE20-4BEA-97DC-BF6841EF7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5A53"/>
                </a:solidFill>
                <a:latin typeface="Aptos"/>
                <a:ea typeface="Aptos"/>
                <a:cs typeface="Aptos"/>
              </a:rPr>
              <a:t>Objective Debye branch/parallel evaluation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ECBE42-FC5A-4B19-A26C-D493122F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9833849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B765F8-91D0-43AB-9CFE-3CB44F31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4C5EE-1B44-4E00-BFEF-A91BB4CA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336"/>
          </a:solidFill>
          <a:ln xmlns:a="http://schemas.openxmlformats.org/drawingml/2006/main" w="0">
            <a:solidFill>
              <a:srgbClr val="A94336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7BD35C-10DC-45FB-8D64-E60EBBA9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FREE Q-SPECTRUM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83FE2E-DEE2-40CB-ACE0-59997F99E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free spectrum 조건에서는 branch/parallel 판정이 실패했다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33F91-882E-47F1-88EB-9FE79C12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5A5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5A53"/>
                </a:solidFill>
                <a:latin typeface="Malgun Gothic"/>
                <a:ea typeface="Malgun Gothic"/>
                <a:cs typeface="Malgun Gothic"/>
              </a:rPr>
              <a:t>q spectrum을 완전히 자유롭게 두면, 농도 amplitude와 branching 정보가 spectrum scale/rotation으로 흡수될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5A489-90F0-4632-A3CE-08FA8ADCF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812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case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42B6FF-FEFD-4AE9-9CF6-5D95B2BD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812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truth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65CBC5-CAA0-4CF2-A303-546D96B2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812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estimated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AC7F4-2E22-4BF4-83DF-CA82F78A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8135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FBE"/>
          </a:solidFill>
          <a:ln xmlns:a="http://schemas.openxmlformats.org/drawingml/2006/main" w="0">
            <a:solidFill>
              <a:srgbClr val="DACFB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94B7F-D4FC-4BAB-B27C-A34BB149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194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branch fraction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FC8A1C-34C6-414D-A7C8-8CE92F274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194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[0.706, 0.294]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A081B1-6E49-4141-A154-D44C7EB6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81940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[1.000, 0.000]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A135DD-1F29-41AB-B9BF-90E91EE8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813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336"/>
          </a:solidFill>
          <a:ln xmlns:a="http://schemas.openxmlformats.org/drawingml/2006/main" w="9525">
            <a:solidFill>
              <a:srgbClr val="A9433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276789-C418-4EFB-8A12-18B6D1BE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57500"/>
            <a:ext cx="10096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FAIL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C610C7-39B7-47E9-B588-7DD0D92F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719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FBE"/>
          </a:solidFill>
          <a:ln xmlns:a="http://schemas.openxmlformats.org/drawingml/2006/main" w="0">
            <a:solidFill>
              <a:srgbClr val="DACFB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22216-59FA-4C6D-813C-E97611070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4099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branch edge F1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66D33A-0701-414F-85A8-8723AF67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099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1.000 expected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5E6112-2880-4E12-ADF2-F52C43CD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0995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0.571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1BA159-7427-4271-A104-87B260D69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718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336"/>
          </a:solidFill>
          <a:ln xmlns:a="http://schemas.openxmlformats.org/drawingml/2006/main" w="9525">
            <a:solidFill>
              <a:srgbClr val="A94336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B0E6A5-D3F7-4922-AB4E-409AB399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448050"/>
            <a:ext cx="10096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FAIL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579270-8DF0-492E-B3F5-24567DE2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6245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FBE"/>
          </a:solidFill>
          <a:ln xmlns:a="http://schemas.openxmlformats.org/drawingml/2006/main" w="0">
            <a:solidFill>
              <a:srgbClr val="DACFB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D16F08-6A21-4BF0-A4F9-DC6401C53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parallel weights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4CC5A6-49FA-4A6E-A968-7CAADFF65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005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[0.52, 0.31, 0.17]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3A10D1-C67C-4CDF-8C68-3F815BEB1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00050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[0.998, 0.001, 0.0006]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AF3525-7617-435E-9B05-F620DD17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624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336"/>
          </a:solidFill>
          <a:ln xmlns:a="http://schemas.openxmlformats.org/drawingml/2006/main" w="9525">
            <a:solidFill>
              <a:srgbClr val="A94336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5F876C-4C89-4DE0-8F02-08667E70D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038600"/>
            <a:ext cx="10096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FAIL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A3D31D-F285-4A40-B220-057A5AA7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530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FBE"/>
          </a:solidFill>
          <a:ln xmlns:a="http://schemas.openxmlformats.org/drawingml/2006/main" w="0">
            <a:solidFill>
              <a:srgbClr val="DACFB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1E3DFC-C03C-4AE3-A0AB-F554245F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910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parallel rates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5C1B40-6059-449A-9745-E1420D64D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5910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[8.5e11, 1.2e9, 5.2e7]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2B27EF-8247-41E6-A135-82C79BEA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59105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rate rel. err. 4.8e-4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5B0454-0128-4FF4-B4A8-C1FE4B9B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5529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9525">
            <a:solidFill>
              <a:srgbClr val="247A4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F81C07-2726-4E02-8DD1-2A3C7752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629150"/>
            <a:ext cx="10096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3EAE08-33B9-4CF5-8F4D-419DB0E8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8165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F2C2BA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C82155-F9A7-4A62-ABF4-EC8A4494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15000"/>
            <a:ext cx="57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A94336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A94336"/>
                </a:solidFill>
                <a:latin typeface="Malgun Gothic"/>
                <a:ea typeface="Malgun Gothic"/>
                <a:cs typeface="Malgun Gothic"/>
              </a:rPr>
              <a:t>판정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45D674-8592-4ABE-9A90-46CB5DE4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676900"/>
            <a:ext cx="666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rate나 shape가 일부 맞아도 fraction/weight가 틀리면 branch/parallel 분리 성공이 아니다.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EA2F7E-AE16-4178-8964-063D4864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FBE"/>
          </a:solidFill>
          <a:ln xmlns:a="http://schemas.openxmlformats.org/drawingml/2006/main" w="0">
            <a:solidFill>
              <a:srgbClr val="DACFBE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64BDF83-4008-4E39-8FD4-BA3AA855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5A53"/>
                </a:solidFill>
                <a:latin typeface="Aptos"/>
                <a:ea typeface="Aptos"/>
                <a:cs typeface="Aptos"/>
              </a:rPr>
              <a:t>Objective Debye branch/parallel evaluation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7625D8-8E0C-4C00-AAC8-832291A41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916267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A98A1B-6E30-422F-8DBD-6E41F0F95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ECCCFC-ACA4-48B9-95C3-086CBDEA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70E69-C763-445B-8C83-9D7FF6E24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WHY ERROR CAN MISLEAD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B4C012-8B99-40A9-934B-2D1DF1A0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낮은 reconstruction error는 species 해석을 보장하지 않는다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E6EC5A-89CB-4A94-9152-F0E69018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5A5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5A53"/>
                </a:solidFill>
                <a:latin typeface="Malgun Gothic"/>
                <a:ea typeface="Malgun Gothic"/>
                <a:cs typeface="Malgun Gothic"/>
              </a:rPr>
              <a:t>S와 C 사이에는 scale/rotation freedom이 남는다. 같은 X를 여러 방식으로 설명할 수 있기 때문에 물리량 회복을 따로 검증해야 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0C28A-1AF4-4787-A9EE-4408E627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81300"/>
            <a:ext cx="3619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ACF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AE057-D84B-4496-AA8A-A5F00B8A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162300"/>
            <a:ext cx="2857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X(q,t) = S(q) C(t)^T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ED7A42-1799-4776-9200-B0F9ED97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9814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D5A53"/>
                </a:solidFill>
                <a:latin typeface="Aptos"/>
                <a:ea typeface="Aptos"/>
                <a:cs typeface="Aptos"/>
              </a:rPr>
              <a:t>same reconstruction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3877A3-EB1A-49FE-B93A-90C58DFF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33750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1A6"/>
          </a:solidFill>
          <a:ln xmlns:a="http://schemas.openxmlformats.org/drawingml/2006/main" w="0">
            <a:solidFill>
              <a:srgbClr val="B8B1A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0D83F1-C1C9-443F-A1D1-0924CD3F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718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D5A53"/>
                </a:solidFill>
                <a:latin typeface="Aptos"/>
                <a:ea typeface="Aptos"/>
                <a:cs typeface="Aptos"/>
              </a:rPr>
              <a:t>scale / rotation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55962-9E69-4A70-A233-BE44BD3B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81300"/>
            <a:ext cx="3619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ACFB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8EAD5-F259-4BDD-8E3B-1D2E7498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162300"/>
            <a:ext cx="2971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X = (S A)(C A^-T)^T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F98C68-967D-46F5-BF1E-C225C740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953000"/>
            <a:ext cx="7810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F"/>
          </a:solidFill>
          <a:ln xmlns:a="http://schemas.openxmlformats.org/drawingml/2006/main" w="9525">
            <a:solidFill>
              <a:srgbClr val="F3CAB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593041-89BF-4C65-8A57-86CBF0E4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124450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rPr>
              <a:t>핵심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602E06-734F-43E4-89CC-E0D82DB5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67300"/>
            <a:ext cx="628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parallel weight와 branch fraction은 spectrum scale을 고정하지 않으면 물리적으로 해석하기 어렵다.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8D8EC-35C9-4CC9-90A2-FBFEA6541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FBE"/>
          </a:solidFill>
          <a:ln xmlns:a="http://schemas.openxmlformats.org/drawingml/2006/main" w="0">
            <a:solidFill>
              <a:srgbClr val="DACFB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689811-D27B-494D-B7BD-9600284E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5A53"/>
                </a:solidFill>
                <a:latin typeface="Aptos"/>
                <a:ea typeface="Aptos"/>
                <a:cs typeface="Aptos"/>
              </a:rPr>
              <a:t>Objective Debye branch/parallel evaluation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FDCE08-4E34-461A-874C-A2E6BFD58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441259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698BE8-426A-46DD-A50C-DFCF01B8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8CEC4-A78A-4925-A433-86B45D242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418"/>
          </a:solidFill>
          <a:ln xmlns:a="http://schemas.openxmlformats.org/drawingml/2006/main" w="0">
            <a:solidFill>
              <a:srgbClr val="B7841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F3CD6E-86CF-4781-9D70-21FD184B6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PRIOR-ASSISTED RESULT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BD4AC5-6210-448E-9AC7-927191C7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Debye spectrum scale prior를 넣으면 숫자는 매우 잘 맞는다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41C47-7CFA-46E8-A48F-4B34B002C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5A5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5A53"/>
                </a:solidFill>
                <a:latin typeface="Malgun Gothic"/>
                <a:ea typeface="Malgun Gothic"/>
                <a:cs typeface="Malgun Gothic"/>
              </a:rPr>
              <a:t>하지만 이 결과는 free/blind 분리의 증거가 아니라, 추가 물리 정보를 넣은 constrained recovery로 해석해야 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07057-5459-4019-A2DA-42D95C49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1907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metric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9DDBCA-91AB-4BB7-8110-5DBAA4FB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907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truth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14A8F-F32C-48A5-9ED8-AD913BEC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90750"/>
            <a:ext cx="1524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estimated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08111-B268-4FF5-8676-65E8E55A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337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FBE"/>
          </a:solidFill>
          <a:ln xmlns:a="http://schemas.openxmlformats.org/drawingml/2006/main" w="0">
            <a:solidFill>
              <a:srgbClr val="DACFB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5DF435-0A0B-4DB9-AE59-11BC3FD8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branch fraction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FD0F4-DDF8-4518-BB2E-60545A42B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[0.7059, 0.2941]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5E4BE2-88D8-499C-A1FC-18B1A40C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7175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[0.7061, 0.2939]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4E2B57-16A5-4688-9690-DF60EB82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5336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99D"/>
          </a:solidFill>
          <a:ln xmlns:a="http://schemas.openxmlformats.org/drawingml/2006/main" w="9525">
            <a:solidFill>
              <a:srgbClr val="F0D99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88D3C-7390-4FA6-885C-1E77AF6C4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09850"/>
            <a:ext cx="10096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PASS*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47F017-F250-41AC-9C30-67313148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2425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FBE"/>
          </a:solidFill>
          <a:ln xmlns:a="http://schemas.openxmlformats.org/drawingml/2006/main" w="0">
            <a:solidFill>
              <a:srgbClr val="DACFBE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4016AA-C938-4C8E-8C80-2CFFEE99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623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branch edge F1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B6BA29-8BD1-4D0F-8754-850841BB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623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6CD6DC-8AFE-40D0-8BD6-B91E3410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6230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1.000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2243B6-11EE-431B-B0E8-E3E5AC730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1242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99D"/>
          </a:solidFill>
          <a:ln xmlns:a="http://schemas.openxmlformats.org/drawingml/2006/main" w="9525">
            <a:solidFill>
              <a:srgbClr val="F0D99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864D6B-0CA3-4B88-9B2F-A394F8C17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00400"/>
            <a:ext cx="10096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PASS*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A0499D-B0E8-4EC0-8583-A96F94EF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1480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FBE"/>
          </a:solidFill>
          <a:ln xmlns:a="http://schemas.openxmlformats.org/drawingml/2006/main" w="0">
            <a:solidFill>
              <a:srgbClr val="DACFB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4E16EB-FBBE-42F8-8C85-934F7987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7528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parallel weights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52488B-1513-49B8-8365-54DF3633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75285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[0.52, 0.31, 0.17]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69735D-02A8-46D1-BA9C-E2747F9B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75285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[0.51999, 0.30998, 0.17003]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A5A151-97C3-4B52-B596-2E96F77B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71475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99D"/>
          </a:solidFill>
          <a:ln xmlns:a="http://schemas.openxmlformats.org/drawingml/2006/main" w="9525">
            <a:solidFill>
              <a:srgbClr val="F0D99D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91681C-DE70-4401-97F9-FFDA6D1F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790950"/>
            <a:ext cx="10096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PASS*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F05322-0BAD-4BDA-9129-E093122F1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05350"/>
            <a:ext cx="9944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FBE"/>
          </a:solidFill>
          <a:ln xmlns:a="http://schemas.openxmlformats.org/drawingml/2006/main" w="0">
            <a:solidFill>
              <a:srgbClr val="DACFB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E107D6-2941-465A-8D55-1870E8DFB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relerr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6A7504-1FB1-4DB5-800F-C1E8FCE5E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43400"/>
            <a:ext cx="2914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branch 0.00272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9A2E8C-BE2C-4E85-B5FF-E07B5592E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43400"/>
            <a:ext cx="2419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1616"/>
                </a:solidFill>
                <a:latin typeface="Aptos"/>
                <a:ea typeface="Aptos"/>
                <a:cs typeface="Aptos"/>
              </a:rPr>
              <a:t>parallel 0.00263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8D524C5-9CEB-4390-8132-9301E3F52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305300"/>
            <a:ext cx="1162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9525">
            <a:solidFill>
              <a:srgbClr val="247A45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BEF54C-1469-42D9-80A5-20A204DE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381500"/>
            <a:ext cx="10096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3ADBB37-EDD2-4F67-80A2-AE373AD8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8165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ACFBE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6DE75A-00C4-480C-A7B4-475D27F8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715000"/>
            <a:ext cx="857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7841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B78418"/>
                </a:solidFill>
                <a:latin typeface="Aptos"/>
                <a:ea typeface="Aptos"/>
                <a:cs typeface="Aptos"/>
              </a:rPr>
              <a:t>asterisk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6D560A-8371-4631-A36C-21B5BAA88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676900"/>
            <a:ext cx="590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PASS*는 독립적인 Debye scale 정보가 있을 때만 유효하다는 뜻이다.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4BD174-93B7-4312-AA3A-8C9FC6988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FBE"/>
          </a:solidFill>
          <a:ln xmlns:a="http://schemas.openxmlformats.org/drawingml/2006/main" w="0">
            <a:solidFill>
              <a:srgbClr val="DACFBE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BFDF77F-55E4-45C0-B90A-26EAD270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5A53"/>
                </a:solidFill>
                <a:latin typeface="Aptos"/>
                <a:ea typeface="Aptos"/>
                <a:cs typeface="Aptos"/>
              </a:rPr>
              <a:t>Objective Debye branch/parallel evaluation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80327D1-C2C9-428E-A807-E4E0124D0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339338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5BFFAB-7B3A-4438-9CED-ACF26151F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50A8F-F444-4C24-81E1-B36847F2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418"/>
          </a:solidFill>
          <a:ln xmlns:a="http://schemas.openxmlformats.org/drawingml/2006/main" w="0">
            <a:solidFill>
              <a:srgbClr val="B78418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18A0B-80C4-4287-BDB9-5080748C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WHY PASS* IS NOT BLIND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9EA959-6AA6-4628-BAD7-A927D41A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prior-assisted 성공은 방법론적으로 다른 주장이다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70A6C1-1E58-43D7-B729-4AD89D2E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5A5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5A53"/>
                </a:solidFill>
                <a:latin typeface="Malgun Gothic"/>
                <a:ea typeface="Malgun Gothic"/>
                <a:cs typeface="Malgun Gothic"/>
              </a:rPr>
              <a:t>Debye norm prior가 mock truth에서 온 정보라면 알고리즘이 스스로 scale을 발견한 것이 아니다. 이 구분이 이번 결론의 핵심이다.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593FE2-5DC2-4323-979F-94FDE124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4476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F3CAB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DAE6A-1196-4AB6-9C62-3D51CED3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8956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553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5532C"/>
                </a:solidFill>
                <a:latin typeface="Aptos"/>
                <a:ea typeface="Aptos"/>
                <a:cs typeface="Aptos"/>
              </a:rPr>
              <a:t>blind claim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13B03-550F-48DC-956D-408042AC5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24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36EADD-2F7E-412A-A944-C0FFC704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4805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data만으로 fraction/weight 발견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764E56-6899-4C60-92C8-EB1A9F85E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46B31-A800-446E-B7B4-6AE11CD4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00050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q spectrum scale도 데이터가 결정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4550BB-F253-421A-A4EF-708BC7CA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336"/>
          </a:solidFill>
          <a:ln xmlns:a="http://schemas.openxmlformats.org/drawingml/2006/main" w="0">
            <a:solidFill>
              <a:srgbClr val="A9433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14CA2-5EA0-4C17-944A-16BAD36DE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5295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현재 free run은 이 기준 실패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4DD6C6-C343-43EB-A921-F792EA59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71750"/>
            <a:ext cx="4476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9525">
            <a:solidFill>
              <a:srgbClr val="CFE9E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48C010-2585-4707-8475-0FF19C87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95600"/>
            <a:ext cx="2190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constrained claim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5FF6FB-B2B1-411D-A103-BF2D641B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242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6874378-DFF9-4906-AE6E-E6A04A70C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4805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독립 Debye 구조/scale library 사용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C1C7D4-865F-48BB-A806-0B80E589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76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DF69C8-14F6-4ABE-9EFF-53F6ECD1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0050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그 조건에서 branch/parallel 복원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73957F-4E53-4E10-96DB-7259F61A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6291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418"/>
          </a:solidFill>
          <a:ln xmlns:a="http://schemas.openxmlformats.org/drawingml/2006/main" w="0">
            <a:solidFill>
              <a:srgbClr val="B78418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AAD56A-BF91-4336-A693-37140536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52950"/>
            <a:ext cx="3067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현재 prior-assisted run은 이 범주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A8E4D0-03EE-4648-846A-43A577E2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FBE"/>
          </a:solidFill>
          <a:ln xmlns:a="http://schemas.openxmlformats.org/drawingml/2006/main" w="0">
            <a:solidFill>
              <a:srgbClr val="DACFB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0E61A1-AB7B-4221-A770-EEAFFB255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5A53"/>
                </a:solidFill>
                <a:latin typeface="Aptos"/>
                <a:ea typeface="Aptos"/>
                <a:cs typeface="Aptos"/>
              </a:rPr>
              <a:t>Objective Debye branch/parallel evaluation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A2F3D9-22A8-41B1-AC43-E76554893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9806423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E05273-E242-4283-BD2F-A6E98E850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2D639C-5B36-4ABA-8FDA-95CDD4FF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496AEC-43BC-4CF2-AFDE-FA1B6AA07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VISUAL EVIDENCE: CONDITIONAL ONLY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57A34D-96D7-41BF-BF78-73FF3FE4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그림은 prior-assisted 조건에서의 회복을 보여준다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CED30B-FB07-44DC-9BE2-D0516C371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5A5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5A53"/>
                </a:solidFill>
                <a:latin typeface="Malgun Gothic"/>
                <a:ea typeface="Malgun Gothic"/>
                <a:cs typeface="Malgun Gothic"/>
              </a:rPr>
              <a:t>모양은 좋지만, 이 그림만으로 blind tensor separation이 성공했다고 말하면 안 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BA53DE-30C7-4628-AA7D-32A613CB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238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BE"/>
            </a:solidFill>
          </a:ln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4d4a83d884158"/>
          <a:stretch xmlns:a="http://schemas.openxmlformats.org/drawingml/2006/main"/>
        </p:blipFill>
        <p:spPr>
          <a:xfrm xmlns:a="http://schemas.openxmlformats.org/drawingml/2006/main">
            <a:off x="2269361" y="2209800"/>
            <a:ext cx="1919228" cy="12573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9FB482-89B4-4E6B-A724-CAD93A8E7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532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5532C"/>
                </a:solidFill>
                <a:latin typeface="Aptos"/>
                <a:ea typeface="Aptos"/>
                <a:cs typeface="Aptos"/>
              </a:rPr>
              <a:t>branch concentration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64AD56-222C-4143-A05F-1D87B9651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95500"/>
            <a:ext cx="5238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BE"/>
            </a:solidFill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4a81ed9c6d468d"/>
          <a:stretch xmlns:a="http://schemas.openxmlformats.org/drawingml/2006/main"/>
        </p:blipFill>
        <p:spPr>
          <a:xfrm xmlns:a="http://schemas.openxmlformats.org/drawingml/2006/main">
            <a:off x="7995451" y="2209800"/>
            <a:ext cx="1935149" cy="12573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36E24A-7AFE-401D-95C8-D484A79CE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052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532C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5532C"/>
                </a:solidFill>
                <a:latin typeface="Aptos"/>
                <a:ea typeface="Aptos"/>
                <a:cs typeface="Aptos"/>
              </a:rPr>
              <a:t>branch q spectrum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416C1F-CAD0-4F99-B267-43DB3694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5238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BE"/>
            </a:solidFill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a8a164a0754c4c"/>
          <a:stretch xmlns:a="http://schemas.openxmlformats.org/drawingml/2006/main"/>
        </p:blipFill>
        <p:spPr>
          <a:xfrm xmlns:a="http://schemas.openxmlformats.org/drawingml/2006/main">
            <a:off x="2269361" y="4267200"/>
            <a:ext cx="1919228" cy="12573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E21A3-2592-48AE-BE4F-71FEB66A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626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parallel concentration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ED35E5-E40F-46B4-9BE7-B5C8F551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52900"/>
            <a:ext cx="5238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CFBE"/>
            </a:solidFill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88f79db774671"/>
          <a:stretch xmlns:a="http://schemas.openxmlformats.org/drawingml/2006/main"/>
        </p:blipFill>
        <p:spPr>
          <a:xfrm xmlns:a="http://schemas.openxmlformats.org/drawingml/2006/main">
            <a:off x="7995451" y="4267200"/>
            <a:ext cx="1935149" cy="12573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A96FD4-14D9-4923-8283-D5FDCF2A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562600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7C8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C83"/>
                </a:solidFill>
                <a:latin typeface="Aptos"/>
                <a:ea typeface="Aptos"/>
                <a:cs typeface="Aptos"/>
              </a:rPr>
              <a:t>parallel q spectrum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AACACE-577D-40BC-A2EE-B8BB048E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FBE"/>
          </a:solidFill>
          <a:ln xmlns:a="http://schemas.openxmlformats.org/drawingml/2006/main" w="0">
            <a:solidFill>
              <a:srgbClr val="DACFB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903A0-28C0-4EC2-AE31-D06EF081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5A53"/>
                </a:solidFill>
                <a:latin typeface="Aptos"/>
                <a:ea typeface="Aptos"/>
                <a:cs typeface="Aptos"/>
              </a:rPr>
              <a:t>Objective Debye branch/parallel evaluation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61AD82-70D7-4115-8354-27D5CDCE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43978034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01B3E2E-8544-4207-A955-CDEBA2BF2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A"/>
          </a:solidFill>
          <a:ln xmlns:a="http://schemas.openxmlformats.org/drawingml/2006/main" w="0">
            <a:solidFill>
              <a:srgbClr val="151A1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08B0C-D101-468A-908B-E15A98958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2BA"/>
          </a:solidFill>
          <a:ln xmlns:a="http://schemas.openxmlformats.org/drawingml/2006/main" w="0">
            <a:solidFill>
              <a:srgbClr val="F2C2B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E085D-53DF-4DC7-AE43-C8047FFF3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CLAIM LEDGER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C4098C-9F5B-47ED-AF25-A66EB046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1028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현재 가능한 주장을 세 단계로 나누면 이렇다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B6ACD8-2999-4907-BD7D-A0F8082E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8D2C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D8D2C8"/>
                </a:solidFill>
                <a:latin typeface="Malgun Gothic"/>
                <a:ea typeface="Malgun Gothic"/>
                <a:cs typeface="Malgun Gothic"/>
              </a:rPr>
              <a:t>서로 다른 수준의 주장을 섞으면 과대해석이 된다.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8A906-9890-476E-8D07-9962C03B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143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2B"/>
          </a:solidFill>
          <a:ln xmlns:a="http://schemas.openxmlformats.org/drawingml/2006/main" w="9525">
            <a:solidFill>
              <a:srgbClr val="3A4242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0E98F4-A314-4086-A97D-C04DDCFD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336"/>
          </a:solidFill>
          <a:ln xmlns:a="http://schemas.openxmlformats.org/drawingml/2006/main" w="0">
            <a:solidFill>
              <a:srgbClr val="A9433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A719EC-6151-43F0-80AF-5FBF5EA6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432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말하면 안 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9CFF0-4883-43CA-9D15-FC39ABA8D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9570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D8D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DD8D0"/>
                </a:solidFill>
                <a:latin typeface="Malgun Gothic"/>
                <a:ea typeface="Malgun Gothic"/>
                <a:cs typeface="Malgun Gothic"/>
              </a:rPr>
              <a:t>free q-spectrum open generator가 branch/parallel fraction까지 자동으로 분리했다.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BB0FE-65F7-439D-95D4-264FF67C1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3143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2B"/>
          </a:solidFill>
          <a:ln xmlns:a="http://schemas.openxmlformats.org/drawingml/2006/main" w="9525">
            <a:solidFill>
              <a:srgbClr val="3A4242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0033CD-FB33-4013-9EF6-9CE4EE877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7813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960A77-C69C-4F0F-9FDF-9EB80AB9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432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말할 수 있음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2B5E7-D868-4855-B7AA-B98C7CED2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69570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D8D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DD8D0"/>
                </a:solidFill>
                <a:latin typeface="Malgun Gothic"/>
                <a:ea typeface="Malgun Gothic"/>
                <a:cs typeface="Malgun Gothic"/>
              </a:rPr>
              <a:t>Debye q-spectrum과 lifetime이 충분히 다르면 active signals/rates 분리 가능성이 높다.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8AFD44-685E-46A3-A356-2AB0C95E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81300"/>
            <a:ext cx="3143250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A2B"/>
          </a:solidFill>
          <a:ln xmlns:a="http://schemas.openxmlformats.org/drawingml/2006/main" w="9525">
            <a:solidFill>
              <a:srgbClr val="3A4242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E7F169-2418-455B-B461-0E0E40746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81300"/>
            <a:ext cx="3143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418"/>
          </a:solidFill>
          <a:ln xmlns:a="http://schemas.openxmlformats.org/drawingml/2006/main" w="0">
            <a:solidFill>
              <a:srgbClr val="B7841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B876A3-A584-431A-869E-AACE9F75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432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조건부 주장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B04E78-2777-4070-A219-D467FE50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95700"/>
            <a:ext cx="2476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DD8D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DDD8D0"/>
                </a:solidFill>
                <a:latin typeface="Malgun Gothic"/>
                <a:ea typeface="Malgun Gothic"/>
                <a:cs typeface="Malgun Gothic"/>
              </a:rPr>
              <a:t>독립적인 Debye spectrum scale prior가 있으면 branch fraction과 parallel weight도 복원 가능하다.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BA458A-D97A-43BE-BF5A-6181410D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FBE"/>
          </a:solidFill>
          <a:ln xmlns:a="http://schemas.openxmlformats.org/drawingml/2006/main" w="0">
            <a:solidFill>
              <a:srgbClr val="DACFB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573FF4-6B98-4974-BC6F-792EBC7B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5A53"/>
                </a:solidFill>
                <a:latin typeface="Aptos"/>
                <a:ea typeface="Aptos"/>
                <a:cs typeface="Aptos"/>
              </a:rPr>
              <a:t>Objective conclusion, not optimistic interpretation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C57E68-6FE5-490D-8BCA-E5BF5EB13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0943518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72F221-0829-4717-A71D-C4746720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7F45E-7A51-4927-BEFD-86E403E3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61B188-4358-4821-8B28-F6E0DA5A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ALGORITHM IMPLICATION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25FBBA-56F3-4990-8586-85346392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branch/parallel까지 목표라면 free S(q)만으로는 부족하다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65F15-A92B-45FA-A5A4-D36D201C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5A5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5A53"/>
                </a:solidFill>
                <a:latin typeface="Malgun Gothic"/>
                <a:ea typeface="Malgun Gothic"/>
                <a:cs typeface="Malgun Gothic"/>
              </a:rPr>
              <a:t>목표가 topology와 fraction이라면 q-spectrum을 완전 자유변수로 두는 설계는 scale ambiguity를 깨기 어렵다.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98C06-7553-4BA4-BD2C-DE10EF86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47625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8"/>
          </a:solidFill>
          <a:ln xmlns:a="http://schemas.openxmlformats.org/drawingml/2006/main" w="9525">
            <a:solidFill>
              <a:srgbClr val="F3CAB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CD63A7-F4A8-4F74-BA27-5FFD5BDA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956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5532C"/>
                </a:solidFill>
                <a:latin typeface="Malgun Gothic"/>
                <a:ea typeface="Malgun Gothic"/>
                <a:cs typeface="Malgun Gothic"/>
              </a:rPr>
              <a:t>현재 free 방식의 약점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AD3261-C514-4882-A794-D01269CE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43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B6FFE6-5E21-49D8-BFF4-FA17D2383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467100"/>
            <a:ext cx="3448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VarPro가 q spectrum amplitude를 자유롭게 조절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201F4-5E59-4FBA-A946-3BD46B322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76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3D97E-EBBC-48BE-BD8E-96EEC9C8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000500"/>
            <a:ext cx="3448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fraction/weight가 spectrum scale로 흡수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55AC2-AC9C-48F1-ADE1-4093D2AB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10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336"/>
          </a:solidFill>
          <a:ln xmlns:a="http://schemas.openxmlformats.org/drawingml/2006/main" w="0">
            <a:solidFill>
              <a:srgbClr val="A9433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4B9A39-D661-41E0-BCFB-7F5DFCB4E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33900"/>
            <a:ext cx="3448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low residual이 false confidence를 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500C4F-283D-4E42-9C7E-0809A5031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571750"/>
            <a:ext cx="47625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2"/>
          </a:solidFill>
          <a:ln xmlns:a="http://schemas.openxmlformats.org/drawingml/2006/main" w="9525">
            <a:solidFill>
              <a:srgbClr val="CFE9E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DE1F48-FA0E-42FC-8418-2F99A4AA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8956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07C83"/>
                </a:solidFill>
                <a:latin typeface="Malgun Gothic"/>
                <a:ea typeface="Malgun Gothic"/>
                <a:cs typeface="Malgun Gothic"/>
              </a:rPr>
              <a:t>합리적 개선 방향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DDC35-5865-4240-9C8C-30AE27776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43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83CFB8-FEBA-4E8E-949A-796B149A5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3448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Debye-parametric S(q; structure) 모델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F5EBA-7A83-4846-9B3D-533076BD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767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A9544B-D5CA-4D4D-A6A8-F405CB62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00500"/>
            <a:ext cx="3448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independent spectrum norm / scale constraint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93C870-DDA5-4D4C-994D-0C1CCE8A6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6101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6CA4D5-E7AF-4D95-BDE0-68AC3FB7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33900"/>
            <a:ext cx="3448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fraction/weight는 mass conservation으로 해석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92650DB-599F-4BDF-B63A-02FD9D3E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FBE"/>
          </a:solidFill>
          <a:ln xmlns:a="http://schemas.openxmlformats.org/drawingml/2006/main" w="0">
            <a:solidFill>
              <a:srgbClr val="DACFB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C2AC45-1B58-4AD7-AF6B-EA388C22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5A53"/>
                </a:solidFill>
                <a:latin typeface="Aptos"/>
                <a:ea typeface="Aptos"/>
                <a:cs typeface="Aptos"/>
              </a:rPr>
              <a:t>Objective Debye branch/parallel evaluation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AC2E12-D3C2-4217-97FF-092D0821F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526603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1BB88B-3CF0-4A0F-9427-BD284162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3EA"/>
          </a:solidFill>
          <a:ln xmlns:a="http://schemas.openxmlformats.org/drawingml/2006/main" w="0">
            <a:solidFill>
              <a:srgbClr val="F8F3E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57BF41-02FD-4127-8458-6A72CA1A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F0C39-8412-4E5D-964F-3F0CC00B5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815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NEXT VALIDATION PROTOCOL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D26B8-5FC2-40E2-BB50-E6D8230B0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10287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2925" b="1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다음 검증은 truth-derived prior 없이 해야 한다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57A741-7D50-4873-8AC8-45C37842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990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5A5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D5A53"/>
                </a:solidFill>
                <a:latin typeface="Malgun Gothic"/>
                <a:ea typeface="Malgun Gothic"/>
                <a:cs typeface="Malgun Gothic"/>
              </a:rPr>
              <a:t>이 단계를 통과해야 진짜로 branch/parallel 분리 알고리즘이라고 부를 수 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158C3B-8FBC-44BB-BCA1-13994D3A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ACFB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83ADB-7631-459B-91FC-8828CF08F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4336"/>
          </a:solidFill>
          <a:ln xmlns:a="http://schemas.openxmlformats.org/drawingml/2006/main" w="0">
            <a:solidFill>
              <a:srgbClr val="A9433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9E57D6-7811-4D40-83A2-8CADD7F6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670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AF00A-A4A4-4FAE-8AE2-EBC3B208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6235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blind mock set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8005A6-D4FC-46F6-B92F-CEB0A07A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seq / branch / parallel label을 숨기고 여러 seed 생성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5BCE3-74C9-4D37-B841-F39B62A07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6225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ACFB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B3D699-1230-47F7-B3A5-BB083291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622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532C"/>
          </a:solidFill>
          <a:ln xmlns:a="http://schemas.openxmlformats.org/drawingml/2006/main" w="0">
            <a:solidFill>
              <a:srgbClr val="B5532C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2E5F3B-EFD6-45D7-BC4F-B652933AB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0670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401C3A-17B9-40B6-935F-98DE3392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6235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no truth scale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BFA574-6DDE-4B40-B7E4-E66392F2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03860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S_normTarget처럼 정답에서 온 값 금지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32FDD-BC7A-44C2-B4AA-8E71655C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ACFB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74834C-5608-466A-BE37-4F8254F7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622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C83"/>
          </a:solidFill>
          <a:ln xmlns:a="http://schemas.openxmlformats.org/drawingml/2006/main" w="0">
            <a:solidFill>
              <a:srgbClr val="007C83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ADABC-4F98-4A79-8F1F-1E51347A0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670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878AAF-631B-4F4F-AFF8-4C7471E8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6235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independent prior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3DFE9-6C34-4681-8638-6E3F1672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03860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구조 library 등 실험 전 계산 가능한 Debye prior만 허용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853360-FAEB-4033-8EA2-CB545F63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62250"/>
            <a:ext cx="21907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9525">
            <a:solidFill>
              <a:srgbClr val="DACFB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5C4537-16F9-43B2-A6AA-98E21B3A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762250"/>
            <a:ext cx="2190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7A45"/>
          </a:solidFill>
          <a:ln xmlns:a="http://schemas.openxmlformats.org/drawingml/2006/main" w="0">
            <a:solidFill>
              <a:srgbClr val="247A4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5B5D0B-080C-4534-BD35-4B25A3F5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67050"/>
            <a:ext cx="400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61616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A54746-D7FA-448C-A8FF-FBF1C6AD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562350"/>
            <a:ext cx="167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6"/>
                </a:solidFill>
                <a:latin typeface="Aptos"/>
                <a:ea typeface="Aptos"/>
                <a:cs typeface="Aptos"/>
              </a:rPr>
              <a:t>failure report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68DF31-B005-4589-A413-1EC87832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38600"/>
            <a:ext cx="16764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0">
                <a:solidFill>
                  <a:srgbClr val="161616"/>
                </a:solidFill>
                <a:latin typeface="Malgun Gothic"/>
                <a:ea typeface="Malgun Gothic"/>
                <a:cs typeface="Malgun Gothic"/>
              </a:rPr>
              <a:t>residual, edge F1, fraction error, weight error를 모두 공개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C37E5C-BBC9-4D81-8FFA-8975E766D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685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CFBE"/>
          </a:solidFill>
          <a:ln xmlns:a="http://schemas.openxmlformats.org/drawingml/2006/main" w="0">
            <a:solidFill>
              <a:srgbClr val="DACFB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A022F1-57B8-450B-BE5B-2118A7AA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238875"/>
            <a:ext cx="6667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D5A53"/>
                </a:solidFill>
                <a:latin typeface="Aptos"/>
                <a:ea typeface="Aptos"/>
                <a:cs typeface="Aptos"/>
              </a:rPr>
              <a:t>Objective Debye branch/parallel evaluation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ED7ED7-20DD-49E4-B37D-D75B2D9BC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91250"/>
            <a:ext cx="666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5D5A5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D5A53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306943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2026-05-17T08:37:01.4390000Z</dcterms:created>
  <dcterms:modified xsi:type="dcterms:W3CDTF">2026-05-17T08:37:01.4400000Z</dcterms:modified>
</coreProperties>
</file>