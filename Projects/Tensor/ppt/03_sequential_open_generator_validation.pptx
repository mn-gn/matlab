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fe1fd3d66649a9" /><Relationship Type="http://schemas.openxmlformats.org/officeDocument/2006/relationships/extended-properties" Target="/docProps/app.xml" Id="Re9e676f9e9b14b2b" /><Relationship Type="http://schemas.openxmlformats.org/officeDocument/2006/relationships/officeDocument" Target="/ppt/presentation.xml" Id="R9ae6e89ccc5748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17083aee09418a"/>
  </p:sldMasterIdLst>
  <p:notesMasterIdLst>
    <p:notesMasterId xmlns:r="http://schemas.openxmlformats.org/officeDocument/2006/relationships" r:id="R9e2eab541c874be3"/>
  </p:notesMasterIdLst>
  <p:sldIdLst>
    <p:sldId xmlns:r="http://schemas.openxmlformats.org/officeDocument/2006/relationships" id="256" r:id="R2682674892d344eb"/>
    <p:sldId xmlns:r="http://schemas.openxmlformats.org/officeDocument/2006/relationships" id="257" r:id="R1cda7244dbff4a22"/>
    <p:sldId xmlns:r="http://schemas.openxmlformats.org/officeDocument/2006/relationships" id="258" r:id="R7c6ca41e15da4664"/>
    <p:sldId xmlns:r="http://schemas.openxmlformats.org/officeDocument/2006/relationships" id="259" r:id="Rfcc1f1ab3ac34f46"/>
    <p:sldId xmlns:r="http://schemas.openxmlformats.org/officeDocument/2006/relationships" id="260" r:id="R372c07284c374e1a"/>
    <p:sldId xmlns:r="http://schemas.openxmlformats.org/officeDocument/2006/relationships" id="261" r:id="R00026dbe5a6e4d33"/>
    <p:sldId xmlns:r="http://schemas.openxmlformats.org/officeDocument/2006/relationships" id="262" r:id="R045c1fe82ad24f6d"/>
    <p:sldId xmlns:r="http://schemas.openxmlformats.org/officeDocument/2006/relationships" id="263" r:id="R28c44784e59442d3"/>
    <p:sldId xmlns:r="http://schemas.openxmlformats.org/officeDocument/2006/relationships" id="264" r:id="R1f6261366d4d4fde"/>
    <p:sldId xmlns:r="http://schemas.openxmlformats.org/officeDocument/2006/relationships" id="265" r:id="R7ecbf8336d034b9a"/>
    <p:sldId xmlns:r="http://schemas.openxmlformats.org/officeDocument/2006/relationships" id="266" r:id="Rf6bef328de8b4db2"/>
    <p:sldId xmlns:r="http://schemas.openxmlformats.org/officeDocument/2006/relationships" id="267" r:id="R84af69e23ea943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7083aee09418a" /><Relationship Type="http://schemas.openxmlformats.org/officeDocument/2006/relationships/theme" Target="/ppt/theme/theme1.xml" Id="Rc8f4eb8bd0374635" /><Relationship Type="http://schemas.openxmlformats.org/officeDocument/2006/relationships/notesMaster" Target="/ppt/notesMasters/notesMaster1.xml" Id="R9e2eab541c874be3" /><Relationship Type="http://schemas.openxmlformats.org/officeDocument/2006/relationships/presProps" Target="/ppt/presProps.xml" Id="R880717db8af34891" /><Relationship Type="http://schemas.openxmlformats.org/officeDocument/2006/relationships/viewProps" Target="/ppt/viewProps.xml" Id="R5b890df35a9b4dad" /><Relationship Type="http://schemas.openxmlformats.org/officeDocument/2006/relationships/tableStyles" Target="/ppt/tableStyles.xml" Id="R491c57aae2f24e26" /><Relationship Type="http://schemas.openxmlformats.org/officeDocument/2006/relationships/slide" Target="/ppt/slides/slide1.xml" Id="R2682674892d344eb" /><Relationship Type="http://schemas.openxmlformats.org/officeDocument/2006/relationships/slide" Target="/ppt/slides/slide2.xml" Id="R1cda7244dbff4a22" /><Relationship Type="http://schemas.openxmlformats.org/officeDocument/2006/relationships/slide" Target="/ppt/slides/slide3.xml" Id="R7c6ca41e15da4664" /><Relationship Type="http://schemas.openxmlformats.org/officeDocument/2006/relationships/slide" Target="/ppt/slides/slide4.xml" Id="Rfcc1f1ab3ac34f46" /><Relationship Type="http://schemas.openxmlformats.org/officeDocument/2006/relationships/slide" Target="/ppt/slides/slide5.xml" Id="R372c07284c374e1a" /><Relationship Type="http://schemas.openxmlformats.org/officeDocument/2006/relationships/slide" Target="/ppt/slides/slide6.xml" Id="R00026dbe5a6e4d33" /><Relationship Type="http://schemas.openxmlformats.org/officeDocument/2006/relationships/slide" Target="/ppt/slides/slide7.xml" Id="R045c1fe82ad24f6d" /><Relationship Type="http://schemas.openxmlformats.org/officeDocument/2006/relationships/slide" Target="/ppt/slides/slide8.xml" Id="R28c44784e59442d3" /><Relationship Type="http://schemas.openxmlformats.org/officeDocument/2006/relationships/slide" Target="/ppt/slides/slide9.xml" Id="R1f6261366d4d4fde" /><Relationship Type="http://schemas.openxmlformats.org/officeDocument/2006/relationships/slide" Target="/ppt/slides/slide10.xml" Id="R7ecbf8336d034b9a" /><Relationship Type="http://schemas.openxmlformats.org/officeDocument/2006/relationships/slide" Target="/ppt/slides/slide11.xml" Id="Rf6bef328de8b4db2" /><Relationship Type="http://schemas.openxmlformats.org/officeDocument/2006/relationships/slide" Target="/ppt/slides/slide12.xml" Id="R84af69e23ea943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b13c8389e44d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6d98a7797e4cd3" /><Relationship Type="http://schemas.openxmlformats.org/officeDocument/2006/relationships/notesMaster" Target="/ppt/notesMasters/notesMaster1.xml" Id="Rd7de847e3fa247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eced3d01f44090" /><Relationship Type="http://schemas.openxmlformats.org/officeDocument/2006/relationships/notesMaster" Target="/ppt/notesMasters/notesMaster1.xml" Id="R4d5eeb08e75e47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3afffe52ab4387" /><Relationship Type="http://schemas.openxmlformats.org/officeDocument/2006/relationships/notesMaster" Target="/ppt/notesMasters/notesMaster1.xml" Id="R974af484a51b4f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93cd73c32a42b5" /><Relationship Type="http://schemas.openxmlformats.org/officeDocument/2006/relationships/notesMaster" Target="/ppt/notesMasters/notesMaster1.xml" Id="R57f37aaf2ad045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699667fa96443c" /><Relationship Type="http://schemas.openxmlformats.org/officeDocument/2006/relationships/notesMaster" Target="/ppt/notesMasters/notesMaster1.xml" Id="Rdd0a10e367a544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46f177332c4738" /><Relationship Type="http://schemas.openxmlformats.org/officeDocument/2006/relationships/notesMaster" Target="/ppt/notesMasters/notesMaster1.xml" Id="R0efc6a71e3b046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a49ae3cfc5488f" /><Relationship Type="http://schemas.openxmlformats.org/officeDocument/2006/relationships/notesMaster" Target="/ppt/notesMasters/notesMaster1.xml" Id="Rf5d9819198464f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6dabad4c004d6d" /><Relationship Type="http://schemas.openxmlformats.org/officeDocument/2006/relationships/notesMaster" Target="/ppt/notesMasters/notesMaster1.xml" Id="R1523d9390b8344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41165242074963" /><Relationship Type="http://schemas.openxmlformats.org/officeDocument/2006/relationships/notesMaster" Target="/ppt/notesMasters/notesMaster1.xml" Id="R437a904f91554b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fe461f20264664" /><Relationship Type="http://schemas.openxmlformats.org/officeDocument/2006/relationships/notesMaster" Target="/ppt/notesMasters/notesMaster1.xml" Id="R5db53787a0a04c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497696e8054ca2" /><Relationship Type="http://schemas.openxmlformats.org/officeDocument/2006/relationships/notesMaster" Target="/ppt/notesMasters/notesMaster1.xml" Id="Rbea855cc9e5e4a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e1f4d9c30f4a2c" /><Relationship Type="http://schemas.openxmlformats.org/officeDocument/2006/relationships/notesMaster" Target="/ppt/notesMasters/notesMaster1.xml" Id="R0c009b1304374f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a4018487b4d7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13f8dac87142f0" /><Relationship Type="http://schemas.openxmlformats.org/officeDocument/2006/relationships/slideLayout" Target="/ppt/slideLayouts/slideLayout2.xml" Id="Ra3a6ac816eaf41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a6ac816eaf41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5737a2aecd4061" /><Relationship Type="http://schemas.openxmlformats.org/officeDocument/2006/relationships/notesSlide" Target="/ppt/notesSlides/notesSlide1.xml" Id="R28f497b291f5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5fd3b666b4ee1" /><Relationship Type="http://schemas.openxmlformats.org/officeDocument/2006/relationships/notesSlide" Target="/ppt/notesSlides/notesSlide2.xml" Id="R9dd094206d49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dc756a12304e39" /><Relationship Type="http://schemas.openxmlformats.org/officeDocument/2006/relationships/notesSlide" Target="/ppt/notesSlides/notesSlide3.xml" Id="R2ce5bcef92364e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c6fa8bc26e4998" /><Relationship Type="http://schemas.openxmlformats.org/officeDocument/2006/relationships/notesSlide" Target="/ppt/notesSlides/notesSlide4.xml" Id="R264cdb4b31bb4f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a4008dff54558" /><Relationship Type="http://schemas.openxmlformats.org/officeDocument/2006/relationships/notesSlide" Target="/ppt/notesSlides/notesSlide5.xml" Id="R640f008a4cec44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d70272e3042d7" /><Relationship Type="http://schemas.openxmlformats.org/officeDocument/2006/relationships/image" Target="/ppt/media/image.png" Id="R5ea57e9725b24442" /><Relationship Type="http://schemas.openxmlformats.org/officeDocument/2006/relationships/notesSlide" Target="/ppt/notesSlides/notesSlide6.xml" Id="R01a31ba94828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f70cd173ee4feb" /><Relationship Type="http://schemas.openxmlformats.org/officeDocument/2006/relationships/image" Target="/ppt/media/image2.png" Id="R2fd47dd21c864529" /><Relationship Type="http://schemas.openxmlformats.org/officeDocument/2006/relationships/image" Target="/ppt/media/image3.png" Id="Rc6cc185887bd44d2" /><Relationship Type="http://schemas.openxmlformats.org/officeDocument/2006/relationships/notesSlide" Target="/ppt/notesSlides/notesSlide7.xml" Id="R147a284c456a4e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3d50770ac94b1c" /><Relationship Type="http://schemas.openxmlformats.org/officeDocument/2006/relationships/notesSlide" Target="/ppt/notesSlides/notesSlide8.xml" Id="R1b4d9ae958f14f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1b5a8dcdf438d" /><Relationship Type="http://schemas.openxmlformats.org/officeDocument/2006/relationships/notesSlide" Target="/ppt/notesSlides/notesSlide9.xml" Id="Rab1358aa661c4f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4c7e92ace4451f" /><Relationship Type="http://schemas.openxmlformats.org/officeDocument/2006/relationships/notesSlide" Target="/ppt/notesSlides/notesSlide10.xml" Id="Rcc120b4d6d7346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1d3e7cab94bfd" /><Relationship Type="http://schemas.openxmlformats.org/officeDocument/2006/relationships/notesSlide" Target="/ppt/notesSlides/notesSlide11.xml" Id="Re17a9808129645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04ee8391b24e12" /><Relationship Type="http://schemas.openxmlformats.org/officeDocument/2006/relationships/notesSlide" Target="/ppt/notesSlides/notesSlide12.xml" Id="Rb6fae3844ba342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1E0111-C378-4234-A423-69CB653E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A"/>
          </a:solidFill>
          <a:ln xmlns:a="http://schemas.openxmlformats.org/drawingml/2006/main" w="0">
            <a:solidFill>
              <a:srgbClr val="151A1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A77E42-B053-40B9-84A4-9F1B7CEA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90E5CA-2CA9-4FD2-8BB1-50D1CABC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RERUN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9B014-FBBE-4EC4-BD2E-833F499A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열린 generator에서도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sequential mock은 sequential로 선택됐다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2E5B0-91B6-475E-94D0-9CD5CC0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0C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6D0C6"/>
                </a:solidFill>
                <a:latin typeface="Malgun Gothic"/>
                <a:ea typeface="Malgun Gothic"/>
                <a:cs typeface="Malgun Gothic"/>
              </a:rPr>
              <a:t>6개 forward 경로를 모두 열고 다시 실행했다. 결과는 branch/direct 경로가 0으로 닫히고 1-&gt;2-&gt;3-&gt;ground만 남았다.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FEBB1-0CB1-4EFE-B684-9C71057A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90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FE8A7-A9FA-43D2-AA4E-1DC28900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E6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E6E1"/>
                </a:solidFill>
                <a:latin typeface="Malgun Gothic"/>
                <a:ea typeface="Malgun Gothic"/>
                <a:cs typeface="Malgun Gothic"/>
              </a:rPr>
              <a:t>핵심 결론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BAE88-D979-4850-BF4B-19D3E718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sequential 모델을 따로 가정한 것이 아니라, open generator 안에서 sparse solution으로 sequential topology가 재현되었다.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C7584-4A5F-4165-AB7C-1B62372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6E1"/>
          </a:solidFill>
          <a:ln xmlns:a="http://schemas.openxmlformats.org/drawingml/2006/main" w="0">
            <a:solidFill>
              <a:srgbClr val="C8E6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D25D7-B2FE-46D6-9A61-4A22228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0.00077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25DA1-DE95-4BBD-8115-3DB49F06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EB8A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EB8AF"/>
                </a:solidFill>
                <a:latin typeface="Malgun Gothic"/>
                <a:ea typeface="Malgun Gothic"/>
                <a:cs typeface="Malgun Gothic"/>
              </a:rPr>
              <a:t>zero-lag relative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72CEF-3FC9-4537-B518-755EC456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578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3C428-3C6B-4AA3-8AF1-86AFD192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72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0.00080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023E2-28C1-4489-B46F-A540A0DC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340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EB8A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EB8AF"/>
                </a:solidFill>
                <a:latin typeface="Malgun Gothic"/>
                <a:ea typeface="Malgun Gothic"/>
                <a:cs typeface="Malgun Gothic"/>
              </a:rPr>
              <a:t>full tensor relative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B0FAF-8380-4991-A957-01502F1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B9A11-95B3-4954-BDF5-A7A91719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72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1-&gt;2-&gt;3-&gt;G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086DF-9E74-47A5-83F2-F0279347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340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EB8A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EB8AF"/>
                </a:solidFill>
                <a:latin typeface="Malgun Gothic"/>
                <a:ea typeface="Malgun Gothic"/>
                <a:cs typeface="Malgun Gothic"/>
              </a:rPr>
              <a:t>surviving 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17AF8-A28B-4387-B87C-6EBFB41C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6C1F5-F1FB-49A6-B3F3-C670AB3B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72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56DB7-A375-4610-9529-C6D0643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EB8A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EB8AF"/>
                </a:solidFill>
                <a:latin typeface="Malgun Gothic"/>
                <a:ea typeface="Malgun Gothic"/>
                <a:cs typeface="Malgun Gothic"/>
              </a:rPr>
              <a:t>k13, k1G, k2G after pruning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E69C5-3BB3-4ECF-95DD-06B7D911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C4174-5373-46FC-9D03-7C992FB2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Latest MATLAB rerun on current mockdata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08715-C579-4AA8-96E1-B669C591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39803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10E13-0179-4C63-81B6-3D3DC9B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49E046-36F7-4A60-9240-39F19D9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AF2A0D2-39CC-40C9-B5CA-49EC637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VALIDATION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B58A0-D3E8-4D32-BFC4-D76F285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검증 질문은 단순하다: sequential이 open generator의 특수해로 나오는가?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C51A5-5224-4F44-A655-E9895A3E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만약 알고리즘이 sequential을 강제한 게 아니라면, branch/direct 경로를 열어도 현재 mockdata에서는 그 경로들이 사라져야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1167-C3AC-4096-AAB1-95265C14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C8E6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0A2B6-BB15-4B95-98B9-59D39948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테스트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89602-1D02-42A3-A7AD-51D45186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FF246-0DE3-4684-B05D-0AE40DB0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current sequential mockdata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2B37A-5A78-420A-8165-8565BB76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0C41D-FB60-4D57-A194-B45E343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290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forward/acyclic edge 6개 모두 open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3DCAC-4B23-4B19-8983-49A00903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AE945-5971-4EC5-A090-4123C36B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rate를 동시에 최적화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1E496-8CF3-422C-A4ED-773A431E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88ECC-FD17-4F27-BDC2-216D3B8C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성공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2A691-C025-41F5-AC63-EFC70BA0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DF5BC-D430-4100-AEF7-4DA9770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k12, k23, k3G는 생존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46B6A-AE2D-43EC-824C-8E877B39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6818D-CEE0-451D-ACD5-DBD67675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k13, k1G, k2G는 0으로 pruning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81EF2-1E90-4FBB-8FB0-54010244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4EF17-29D1-4496-977C-C839DF39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243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tensor와 zero-lag residual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71572-65B0-431C-95EA-7EDD2602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85B1A-A9A7-4534-BA61-F3C0C2CC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9AD02-1886-477C-9BCA-D817FAD3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90394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D814F-70A0-4ABD-8C30-0E861F8E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DF31AD2-E9F1-4A7E-92D1-D3973C6A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7AB90F-FD54-489F-A539-D5A8EA30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 GENERATOR BEFORE PRUNING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D0293-2174-4EFD-8432-E166B56B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처음에는 sequential, branch, direct-ground 경로를 모두 열었다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35AC0-6F13-4BC1-9BF4-D8F19C89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단, peak-order를 거스르는 reverse path까지 열지는 않았다. 현재 검증은 forward/acyclic reaction family 안에서의 선택이다.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DA4D1-2A0B-4306-A27F-7A9E42DA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6E1"/>
          </a:solidFill>
          <a:ln xmlns:a="http://schemas.openxmlformats.org/drawingml/2006/main" w="9525">
            <a:solidFill>
              <a:srgbClr val="C8E6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79907-5E3E-4CFC-87C5-DD80679B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71875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ACB71-4EB0-4344-891C-1433AD44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6E1"/>
          </a:solidFill>
          <a:ln xmlns:a="http://schemas.openxmlformats.org/drawingml/2006/main" w="9525">
            <a:solidFill>
              <a:srgbClr val="C8E6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5FC9E-F130-4E86-8F94-51370E90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71875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51739-CC3F-491E-A11F-EFC8C39D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6E1"/>
          </a:solidFill>
          <a:ln xmlns:a="http://schemas.openxmlformats.org/drawingml/2006/main" w="9525">
            <a:solidFill>
              <a:srgbClr val="C8E6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56F33-3D91-4E52-9041-64969E22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81275-141D-4878-BBDE-8CB27666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91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8"/>
          </a:solidFill>
          <a:ln xmlns:a="http://schemas.openxmlformats.org/drawingml/2006/main" w="9525">
            <a:solidFill>
              <a:srgbClr val="E6E0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13807-CA27-44E7-AB90-B769326E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71875"/>
            <a:ext cx="76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G</a:t>
            </a:r>
          </a:p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silent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2FC95-A780-43D7-8FEF-7E10B56D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829050"/>
            <a:ext cx="1685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DA538-9285-48B4-B925-AFD675E9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358140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rPr>
              <a:t>k12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3BD78-106A-4FB5-9818-37933313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829050"/>
            <a:ext cx="1685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F2693-6CE8-42FC-A066-BFAC0A7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358140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rPr>
              <a:t>k23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72434-5F28-4464-B2E5-FECD4CEE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3829050"/>
            <a:ext cx="1685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43904-E57E-4616-B3A0-A135B384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288" y="358140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rPr>
              <a:t>k3G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8E4B4-B43A-42D8-AED8-4A23B143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2433">
            <a:off x="1809750" y="3367088"/>
            <a:ext cx="500425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E7C51-F75B-4A13-B6C2-F57192CA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57488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rPr>
              <a:t>k13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8F8AB-3230-4A8C-B45F-3E31CE33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39">
            <a:off x="1809750" y="4271963"/>
            <a:ext cx="764911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87AA2-6594-400A-8F90-9DB2C55E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529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rPr>
              <a:t>k1G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40AD2-5ED6-4922-9B87-5F39D60B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45293">
            <a:off x="4333875" y="4271963"/>
            <a:ext cx="520637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89901-A75D-440F-97D9-2BFF32C2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45053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8B1A6"/>
                </a:solidFill>
                <a:latin typeface="Malgun Gothic"/>
                <a:ea typeface="Malgun Gothic"/>
                <a:cs typeface="Malgun Gothic"/>
              </a:rPr>
              <a:t>k2G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27806-F907-4ADB-B4CF-15184EB7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81650"/>
            <a:ext cx="922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21973-5802-48E1-A334-61885F2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열린 변수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F4E09-6C52-4AD6-8217-F485E775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769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[k12, k13, k1G, k23, k2G, k3G]를 한 번에 최적화한다.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F318AF-911A-42BB-9A12-F55DDC16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E0A61-2FF9-48AF-A587-B3EEABCC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E122D4-F56F-4D60-AE35-CE0EEF39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98369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AC777-28A0-4884-A0F6-A0EFB0BB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DA05E3-5C31-44A0-A779-DF5B8AC9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34DD63-4235-48A7-82D6-59358989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RERUN RATE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1FF1E-BB25-4441-A5D6-07DB4DA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재실행 결과: 3개 경로만 생존하고 나머지는 0으로 닫혔다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EBF89-8C6C-4F40-9D69-EDE67D66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이 표가 open-generator 검증의 핵심이다. 모든 후보 edge가 같은 objective 안에서 경쟁했고, sequential subset만 남았다.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25416-BDED-4B2D-A795-8F9FBDD2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9144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B3C5A-42A2-4AF8-8968-5AF00BF2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33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transition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07C0C-FCF2-4852-9E2C-B1A6EB4B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rate (s^-1)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95A23-A6B5-432B-B5C4-E6CB5C9A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4587C-B4C6-4FE9-B7F2-2FECB6EF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B9AA2-C088-4DA0-B90D-252B202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71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1 -&gt;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CE935-69A7-4CA7-BCB3-E33B3326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9.4175e11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C23E5-5952-44CA-8449-A6CF7DD3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337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D6"/>
          </a:solidFill>
          <a:ln xmlns:a="http://schemas.openxmlformats.org/drawingml/2006/main" w="9525">
            <a:solidFill>
              <a:srgbClr val="CFE8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56809-13F0-4CD9-AA3A-B241C255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rPr>
              <a:t>survived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DC7BA-E5A7-4F32-999F-9EFE0AD0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C8D12-8B56-42F4-93BE-3395E2F9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48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2 -&gt;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9A721-4DF1-46F0-A8F3-CE8D022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48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3.2442e8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01A85-E75B-4BFB-B061-D6ED8035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99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D6"/>
          </a:solidFill>
          <a:ln xmlns:a="http://schemas.openxmlformats.org/drawingml/2006/main" w="9525">
            <a:solidFill>
              <a:srgbClr val="CFE8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06DA7-9957-4A85-8BAD-C4D45132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6710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rPr>
              <a:t>survived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69D8D-41B4-4220-A69B-74F8D5D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66ECB-A3E9-43C9-B914-260EB1BB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3 -&gt; 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189B3-AF71-42A5-BC45-33A1DD4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1.0112e7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53D7D-8513-4694-BBE0-D19BC99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862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D6"/>
          </a:solidFill>
          <a:ln xmlns:a="http://schemas.openxmlformats.org/drawingml/2006/main" w="9525">
            <a:solidFill>
              <a:srgbClr val="CFE8D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FA989-F092-4D3F-B6B7-4F2E0FB5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4335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rPr>
              <a:t>survived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2B98AB-69B3-4D1F-94C5-72F39150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7DCEA-DC91-4E49-89B3-53AB277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00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1 -&gt;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D69052-6C2F-4466-A4DF-16ECE54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C6A842-5345-4CDF-8698-2D3EF1F4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624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BD"/>
          </a:solidFill>
          <a:ln xmlns:a="http://schemas.openxmlformats.org/drawingml/2006/main" w="9525">
            <a:solidFill>
              <a:srgbClr val="F3C6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5E379-C4F4-41EB-96E3-5ABF183C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960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rPr>
              <a:t>pruned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290E5-81BC-483A-A2A1-40D05B8F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B78153-7353-4885-A158-5A72EC45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1 -&gt; 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767A7-6140-4C3D-A8F7-DAFB13BE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32AE40-B7D5-41F7-8D10-11DFB02F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387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BD"/>
          </a:solidFill>
          <a:ln xmlns:a="http://schemas.openxmlformats.org/drawingml/2006/main" w="9525">
            <a:solidFill>
              <a:srgbClr val="F3C6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8702C8-9A1A-4145-8CBB-21D7BDC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9585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rPr>
              <a:t>pruned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29B560-8749-42D6-B3F0-9F3ECE7C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7690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BE2E4C-ADD8-43FE-B46A-7E492941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53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2 -&gt; 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326F61-CCD6-46D3-B153-676BA846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53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FCC918-D7A9-4522-B45F-BEF8D585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149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BD"/>
          </a:solidFill>
          <a:ln xmlns:a="http://schemas.openxmlformats.org/drawingml/2006/main" w="9525">
            <a:solidFill>
              <a:srgbClr val="F3C6B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B02940-A451-4325-B1CA-42ECBE0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7210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rPr>
              <a:t>pruned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57DB7B-E92C-4665-B914-61D6D91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FD4C38-3256-4445-A617-6B194B30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00360A-4A78-455B-8EC4-CAC09BC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4015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9814E-6B79-4464-BC3F-90C4180C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C65EE0-984B-403F-B86D-3E6A6E7D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1AC690-8B81-41C3-A53F-B0F9501C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WHY THIS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5FB96-B76B-4A2C-9F8B-A5FEC106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sequential은 open generator 안의 한 점이다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CE7DA-E1DB-4D12-A74E-1711C7B9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그래서 이 결과는 'sequential로 피팅했더니 잘 맞았다'와 다르다. 열린 경로 중 sequential subset이 선택된 것이다.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02558-5CF1-434E-8FAE-07C91000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4305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6B787-1D00-496E-96EB-6E0769DB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open family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9502D-93B2-4060-A14C-CF63A1F0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98CA0-9A1B-487C-A45E-8FFC01DC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287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branch: 1-&gt;2 and 1-&gt;3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848A5-D54B-45E1-85D8-B72F2956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AA8E7-4E00-4B15-A32F-D7497611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29050"/>
            <a:ext cx="287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direct loss: 1-&gt;G or 2-&gt;G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AE0E9-A9E8-4D8C-9FAE-72F1A6FF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49A33-C5A8-4D04-8731-C61FD4A8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24350"/>
            <a:ext cx="287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sequential: 1-&gt;2-&gt;3-&gt;G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3431E-AE7C-44CD-804D-2B882FE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305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C8E6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A9A83-DFB3-4C49-9F0C-B6CF99B6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selected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52EBF-8690-4EEF-9C45-C62A9C9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k12 &gt; 0</a:t>
            </a:r>
          </a:p>
          <a:p xmlns:a="http://schemas.openxmlformats.org/drawingml/2006/main">
            <a:pPr algn="ctr">
              <a:defRPr sz="18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k23 &gt; 0</a:t>
            </a:r>
          </a:p>
          <a:p xmlns:a="http://schemas.openxmlformats.org/drawingml/2006/main">
            <a:pPr algn="ctr">
              <a:defRPr sz="18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k3G &gt;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k13 = k1G = k2G =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F1D49-8112-4C77-9573-0CB9CFA1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7DBAD-D5DE-412B-8050-8BD9441E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8463F-94E5-46AB-B37B-0A9BC1B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17080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B64BF5-9F6D-4DD6-AE86-16A88D64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3B2B31-2B48-48D2-860A-24DD208C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C950E5-2E45-4C7F-89B4-24F8570F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CONCENTRATION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91932-6F8F-473D-8B7E-85818280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농도 profile도 sequential mock의 정답 구조와 맞는다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4E189-081D-4FE3-B4F1-BF906DEE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active 3종의 peak가 순서대로 나타나고, silent ground는 후반부에서 지배적으로 올라온다.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A7F08-6C45-439C-A32C-695EEBA3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9532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57e9725b24442"/>
          <a:stretch xmlns:a="http://schemas.openxmlformats.org/drawingml/2006/main"/>
        </p:blipFill>
        <p:spPr>
          <a:xfrm xmlns:a="http://schemas.openxmlformats.org/drawingml/2006/main">
            <a:off x="1327514" y="2152650"/>
            <a:ext cx="5688873" cy="3752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5E3D1-4E87-4FD1-A0B3-760EF6B9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2952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E423F-EA16-4935-8619-B30FF85F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585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5851"/>
                </a:solidFill>
                <a:latin typeface="Aptos"/>
                <a:ea typeface="Aptos"/>
                <a:cs typeface="Aptos"/>
              </a:rPr>
              <a:t>rerun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FFF71-46DA-4BB3-9564-76B058F4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02DF3-5988-47CC-89D0-5E408EC8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peaks: 0.945, 0.997, 0.893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61498-36FD-4381-8A5A-A2B5BDCB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D9CDB-2BA3-49E8-A220-04B795DB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earlyG = 0.0038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15E07-92D9-4637-A6D7-195A0875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1E1B6-A0A7-42DD-8462-61B58175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endG = 0.99996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AE925-4B32-4CEB-B5FD-29D2847B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9E88A-955F-46D2-BD5C-27B77867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3C381-08DA-488B-9E33-BD6CD4DD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87271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31439-801E-476C-9225-5945CBA0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85EAB1-1882-4077-8004-59A0039C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3270F3-F188-45FC-B231-ACC0C3D7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SIGNAL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66000-572D-4B6A-92E5-8905433C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q spectrum과 원 데이터 reconstruction도 함께 맞는다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C6F58-3A56-4A4A-9C76-E2AA5B5E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농도 모양만 맞춘 것이 아니라, 선택된 basis가 q 방향과 zero-lag 측정면까지 동시에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398E2-6DE8-4BB3-A823-543ABDC6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143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47dd21c864529"/>
          <a:stretch xmlns:a="http://schemas.openxmlformats.org/drawingml/2006/main"/>
        </p:blipFill>
        <p:spPr>
          <a:xfrm xmlns:a="http://schemas.openxmlformats.org/drawingml/2006/main">
            <a:off x="796553" y="2247900"/>
            <a:ext cx="4769593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981FA-0B30-43A7-8FD1-A38FB485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q spectra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53731-DD24-43F6-B3E9-AB5B7DAC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5143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c185887bd44d2"/>
          <a:stretch xmlns:a="http://schemas.openxmlformats.org/drawingml/2006/main"/>
        </p:blipFill>
        <p:spPr>
          <a:xfrm xmlns:a="http://schemas.openxmlformats.org/drawingml/2006/main">
            <a:off x="6610350" y="2320780"/>
            <a:ext cx="4800600" cy="299749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79B18-479A-4690-BF5F-36A90343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34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zero-lag reconstruction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7BAD5-F44B-4CC1-BE00-630F26D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626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C8E6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DC25B-FD53-4604-A4D8-7780B112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388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zero-lag err 7.718e-4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4CF3A-4470-467C-A0DA-1492B1D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9626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2B543-9E99-41FA-9CE8-47896053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0388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tensor err 8.027e-4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1B778-2358-446D-9C27-8BBF6AD6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01200-AD70-4D87-8D04-C3792B88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4B745-AE47-4F20-B223-C89A393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20384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7491D-E72B-4552-921E-11A5C101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04A542-9548-42CA-A693-DABCEA6E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590665-8342-427B-888C-CBD562C4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WHY EXTRA PATHS CLOSED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0268A-0183-49C8-BA29-D5FC3176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불필요한 경로가 남지 않게 하는 압력이 objective 안에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D49C1-8CFC-4AC3-955B-0ADDFE5B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모든 경로를 열어두면 과적합 위험이 생긴다. 그래서 residual뿐 아니라 sparsity와 physical profile 조건이 같이 들어간다.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4E549-3CF8-4466-9B85-EC3916AB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2AC6A-8C7B-431C-8AA8-9D2AEE8F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95BCE-9AAF-4100-A956-9B634753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717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tensor residual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EA9A2-F5D5-43BE-B536-26A63176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431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delay tensor 전체 구조를 설명해야 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40A1A-8AAF-46AB-93C6-CEA9E07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ED9F-3C3C-41D6-A0EC-18CBDAD9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13D73-9239-4EFB-AE8D-A71C8B3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zero-lag residual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32910-82E0-4119-BDD2-AFA32F28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956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원래 q-time 데이터도 동시에 맞아야 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53EE7-3BF6-46D7-B07D-582608C1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5BD5D-9AEB-4EC5-8BE6-78B22F8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9525">
            <a:solidFill>
              <a:srgbClr val="B553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233C5-9927-40DF-8F79-FAEA0AD2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 &gt;=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B56A7-C055-42CF-BD1A-39C39AF6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480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time/tau 농도면에서 음수 농도 금지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822F5-D070-4DDA-B944-D66A2163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4AE42-D976-40F0-989B-E037E7A6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9525">
            <a:solidFill>
              <a:srgbClr val="B5532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9A09D-9226-45D9-B840-8F7A0AAA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907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silent 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37074-726C-4605-B4D5-CA162638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ground q spectrum은 0, 농도는 generator에 포함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0E04D-2F69-419E-87C6-67FA825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CC1AC-E642-4471-93C9-EE5EDBDF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9525">
            <a:solidFill>
              <a:srgbClr val="247A4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109BF-B4A8-4A2A-AE24-0B2C43B7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81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sparsity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6B731-69C7-49A2-8711-1EC04AEC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529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불필요한 branch/direct edge를 0으로 닫음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D0224-E7C7-40AD-B680-8B1A492E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48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41C0C-BFE0-44BF-8B3B-BB0867F1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9525">
            <a:solidFill>
              <a:srgbClr val="C7962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407FB2-0358-4B0B-ADE9-02DD19D5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3397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peak/ground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03EFA-F5A3-4B76-8A00-C971CCDF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054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순차적 peak와 late ground를 유도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ACAD4-5D74-4730-A520-FA7E1F6E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CC242C-A689-4DFA-B569-764E5C17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29A29-068E-4AC4-A0F2-3145876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27289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D73F6D-57D6-46D9-9EA7-26FCD8D3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7B8CE1-2C53-4904-B58B-B58E27C7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CADA12-C569-444D-A06C-75843E8C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BRANCH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09BF1-D3E1-4409-82CA-DCD1C7B5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branch fraction은 별도 f가 아니라 rate ratio로 나올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CDE75-BB0B-4D3D-B777-B9BCE4D5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A가 B와 C로 갈라지는 경우, open generator 안에서 kAB와 kAC가 동시에 살아나면 branching ratio가 자동으로 계산된다.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57C99-6EA6-4E81-8D90-C9835050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4805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6E1"/>
          </a:solidFill>
          <a:ln xmlns:a="http://schemas.openxmlformats.org/drawingml/2006/main" w="9525">
            <a:solidFill>
              <a:srgbClr val="C8E6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12481-2850-4905-A8DA-E94F13A4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43300"/>
            <a:ext cx="647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D652B-BCDC-45CD-9F03-CFCF213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D788-4BAF-4D12-8B4B-1E235A63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67000"/>
            <a:ext cx="647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C1776-6871-4887-8EC8-DDB24C1A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2435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A99A7-AF68-4964-BDBA-B48BDE92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19600"/>
            <a:ext cx="647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91262-8207-4E5C-ACAF-AB3B897C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81227">
            <a:off x="2857500" y="3690938"/>
            <a:ext cx="220536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613F2-83A2-4370-B266-76B77F3D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765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rPr>
              <a:t>kAB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7EB82-D911-4B9A-82A7-01B74D6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53186">
            <a:off x="2857500" y="3957638"/>
            <a:ext cx="219901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5B9FD-EA4B-4DB8-8359-54961E6E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7670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rPr>
              <a:t>kAC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48B67-2D12-4600-A6BF-5B5312F6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432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14BF2-FAD7-4D18-B49C-4ECD59A4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자동 산출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A016A-22FD-4905-AFAD-E16AA00E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f_B = kAB / (kAB + kAC)</a:t>
            </a:r>
          </a:p>
          <a:p xmlns:a="http://schemas.openxmlformats.org/drawingml/2006/main">
            <a:pPr algn="ctr">
              <a:defRPr sz="172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f_C = kAC / (kAB + kAC)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1F978-DBFB-4EB8-912B-D92DE960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00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조건: B/C의 lifetime과 q spectrum이 충분히 달라야 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06825-3054-433E-80C8-3F3CAE77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582C8-713A-4DC0-A97F-D10AC227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EF5E2-92D4-4A8E-A793-AD3D340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9698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A4336-E829-457A-9D54-1379A8A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25E3961-04AE-4EFE-9474-2F773D9A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DCE89CE-6721-4B68-B04F-B5F793AA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PARALLEL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1E081-301D-43AA-8694-1AE0496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parallel channel은 initial population까지 열어야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6B1B9-58EB-482E-9B6C-254E53B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완전히 독립적인 parallel 반응은 하나의 시작 state에서 갈라지는 branch와 다르다. channel weight 또는 초기 농도 벡터가 변수로 필요하다.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E5A85-787D-4A37-A564-FDC63F35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C8E6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C2488-D522-4596-A78E-00CBD5CE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78CD3-3786-440C-AF9B-5947D5A5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909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A -&gt; B</a:t>
            </a:r>
          </a:p>
          <a:p xmlns:a="http://schemas.openxmlformats.org/drawingml/2006/main">
            <a:pPr algn="ctr">
              <a:defRPr sz="19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A -&gt;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21824-C47F-473E-8D7B-A7F665B6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비율은 kAB, kAC에서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98E96-61C0-457B-A31D-AD587BCE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10B9A-CECE-40CF-8B00-9248DBD1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parallel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6541E-5C61-4C77-817C-F6525D25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A1 -&gt; B1</a:t>
            </a:r>
          </a:p>
          <a:p xmlns:a="http://schemas.openxmlformats.org/drawingml/2006/main">
            <a:pPr algn="ctr">
              <a:defRPr sz="19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A2 -&gt; 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34DFA-0E1A-4B7F-86EB-71F44D8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비율은 초기 population 또는 channel weight에서 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DE436-9FEE-434A-802D-9DEF5E0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E156E-304A-45F9-A710-3458B093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E0159-2DEA-46F2-8967-86E688B7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19014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F75914-8C22-49E7-8855-1F81999A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FBC6D1-3DFD-4CD1-95CA-05280ADB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D50559F-56E6-41A3-B340-2596DD09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OBJECTIVE 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27C96-4A38-4328-B7CE-119008E3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분리 가능성의 핵심은 경로명이 아니라 독립적인 신호 축이다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F1374-D94D-4ED4-A9CD-4AD75006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반응경로가 어떻든, 각 species가 충분히 다른 q spectrum과 kinetic profile을 가지면 분리 가능성은 올라간다.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4EB51-B677-4FE3-B2D9-93A1A803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ABE47-0489-4A2B-B3CB-5321B1A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171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07CCE-5273-46FD-9339-007C63B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q spectrum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7C094-7BD3-451A-B39C-CE390D5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76650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species spectrum이 선형독립적이어야 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08961-28A5-4B2C-9015-42B34BF1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DF075-4101-4B33-B8F1-BB933BA7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2171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12472-BB14-43C2-8D63-5A626C12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lifetime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E541C-6988-4212-9C1D-B9814941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76650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time constant가 너무 겹치면 mode가 섞임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EF657-7C0B-4856-9573-CB287DB1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650DB-E23B-4F5C-916D-8C2F4C92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171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0">
            <a:solidFill>
              <a:srgbClr val="C796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4C25D-387F-4800-B4B2-2B6FABA5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96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962F"/>
                </a:solidFill>
                <a:latin typeface="Aptos"/>
                <a:ea typeface="Aptos"/>
                <a:cs typeface="Aptos"/>
              </a:rPr>
              <a:t>SNR / IRF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C2B24-49FB-4229-928D-C9C2DDAA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76650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noise와 IRF가 초기 rise 차이를 지우면 불리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A831D-133B-4950-89D1-90B4AF7B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1A9FB-616E-4955-84FC-69458A51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171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DA8CA-D5B4-4722-9080-35B0DF39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normalization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D3206-335F-4360-971E-3ADB6C4A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branch fraction 해석에는 mass conservation/scale 고정 필요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80787-8E40-4BE3-BDD3-9E754C1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FCCD6-A8B5-4BD4-81FE-55A700BD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Open-generator rerun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6141D-77B5-4F22-9162-97FA02C5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42577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72383-E45C-42D1-9094-DBE7A72B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A"/>
          </a:solidFill>
          <a:ln xmlns:a="http://schemas.openxmlformats.org/drawingml/2006/main" w="0">
            <a:solidFill>
              <a:srgbClr val="151A1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C3607BF-4DAC-4F97-B491-AFF41F6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6E1"/>
          </a:solidFill>
          <a:ln xmlns:a="http://schemas.openxmlformats.org/drawingml/2006/main" w="0">
            <a:solidFill>
              <a:srgbClr val="C8E6E1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FF4802-EBFF-4D22-B369-9D8DA582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UPDATED CLAIM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531EB-317B-471D-BD80-DDDD817B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이제 주장할 수 있는 문장은 더 선명해졌다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15200-141C-4B46-B534-34DE99FD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0C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6D0C6"/>
                </a:solidFill>
                <a:latin typeface="Malgun Gothic"/>
                <a:ea typeface="Malgun Gothic"/>
                <a:cs typeface="Malgun Gothic"/>
              </a:rPr>
              <a:t>현재 sequential mock에 대해서는 open generator 검증을 통과했다. 다음은 branch/parallel mock blind test다.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2E57A-E94A-45C1-8D76-661681F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952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87D93-75E2-4DBE-BCB4-5E329C44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6FF69-C075-452F-BF6F-2937EB8F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FD595-B728-4CFA-B04C-9727270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open generator 안에서 현재 sequential mock은 1-&gt;2-&gt;3-&gt;G sparse solution으로 재현됐다.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D98E2-D956-419B-A7C6-F9A92951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952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25776-47D8-4824-B39A-FD269F8B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0">
            <a:solidFill>
              <a:srgbClr val="C7962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2ABF4-0B4A-4209-B9F3-45F92AC8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04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EA5A5-8861-4114-8CF0-B0AB85E8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957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이는 순수 CPD가 species를 직접 찾았다는 뜻이 아니라, tensor mode 위의 physical sparse rotation이다.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E4F9C-71FB-4B48-9B70-A40932AA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952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69DEB-6734-433B-8FC6-5D8F18F1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82FCE-A30F-4B71-BC8F-766DD098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DAA57-7382-4FE5-90C2-2EAA3F05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branch와 parallel mock에서 필요한 edge와 fraction/channel weight가 자동 복원되는지 평가해야 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711F1-C370-4CC6-BD8C-8EBBE0E4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527B1-0B38-434B-97DB-E93A0FB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959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추천 표현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1370A-3196-4DA1-BF6A-A69A489F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638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The sequential topology emerged as a sparse solution inside one open forward generator.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EDD84-F74F-4091-BC40-429E3DC2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FF793-FD00-4313-8B82-19152325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Current mockdata rerun 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2451B-6D6D-495C-A618-9DA9DA48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851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59852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2026-05-17T06:57:22.6960000Z</dcterms:created>
  <dcterms:modified xsi:type="dcterms:W3CDTF">2026-05-17T06:57:22.6960000Z</dcterms:modified>
</coreProperties>
</file>