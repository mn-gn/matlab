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5c15714a8634271" /><Relationship Type="http://schemas.openxmlformats.org/officeDocument/2006/relationships/extended-properties" Target="/docProps/app.xml" Id="R93964a9af7cf4c82" /><Relationship Type="http://schemas.openxmlformats.org/officeDocument/2006/relationships/officeDocument" Target="/ppt/presentation.xml" Id="R5323d159e2e9411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bc945c4bffe47a7"/>
  </p:sldMasterIdLst>
  <p:notesMasterIdLst>
    <p:notesMasterId xmlns:r="http://schemas.openxmlformats.org/officeDocument/2006/relationships" r:id="R9d8dbf5ba6a8487c"/>
  </p:notesMasterIdLst>
  <p:sldIdLst>
    <p:sldId xmlns:r="http://schemas.openxmlformats.org/officeDocument/2006/relationships" id="256" r:id="R0244d26958b24b4d"/>
    <p:sldId xmlns:r="http://schemas.openxmlformats.org/officeDocument/2006/relationships" id="257" r:id="R488f4b61cdeb4434"/>
    <p:sldId xmlns:r="http://schemas.openxmlformats.org/officeDocument/2006/relationships" id="258" r:id="R61dad3d994ca4c5e"/>
    <p:sldId xmlns:r="http://schemas.openxmlformats.org/officeDocument/2006/relationships" id="259" r:id="Rc291151a45344f99"/>
    <p:sldId xmlns:r="http://schemas.openxmlformats.org/officeDocument/2006/relationships" id="260" r:id="Raffd910af76040ed"/>
    <p:sldId xmlns:r="http://schemas.openxmlformats.org/officeDocument/2006/relationships" id="261" r:id="R5bf6f34775f1412f"/>
    <p:sldId xmlns:r="http://schemas.openxmlformats.org/officeDocument/2006/relationships" id="262" r:id="R65edf5378f93480b"/>
    <p:sldId xmlns:r="http://schemas.openxmlformats.org/officeDocument/2006/relationships" id="263" r:id="R4f884d8a085e413e"/>
    <p:sldId xmlns:r="http://schemas.openxmlformats.org/officeDocument/2006/relationships" id="264" r:id="R3bcf5987816c4cd2"/>
    <p:sldId xmlns:r="http://schemas.openxmlformats.org/officeDocument/2006/relationships" id="265" r:id="Rf496b575233d428e"/>
    <p:sldId xmlns:r="http://schemas.openxmlformats.org/officeDocument/2006/relationships" id="266" r:id="R077b6e0b4cfd40b1"/>
    <p:sldId xmlns:r="http://schemas.openxmlformats.org/officeDocument/2006/relationships" id="267" r:id="R77963740482047a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c945c4bffe47a7" /><Relationship Type="http://schemas.openxmlformats.org/officeDocument/2006/relationships/theme" Target="/ppt/theme/theme1.xml" Id="Rd84929b9294744ac" /><Relationship Type="http://schemas.openxmlformats.org/officeDocument/2006/relationships/notesMaster" Target="/ppt/notesMasters/notesMaster1.xml" Id="R9d8dbf5ba6a8487c" /><Relationship Type="http://schemas.openxmlformats.org/officeDocument/2006/relationships/presProps" Target="/ppt/presProps.xml" Id="R748b30a538f546ad" /><Relationship Type="http://schemas.openxmlformats.org/officeDocument/2006/relationships/viewProps" Target="/ppt/viewProps.xml" Id="R3f86633770a7489b" /><Relationship Type="http://schemas.openxmlformats.org/officeDocument/2006/relationships/tableStyles" Target="/ppt/tableStyles.xml" Id="R6c78ac224a034e1a" /><Relationship Type="http://schemas.openxmlformats.org/officeDocument/2006/relationships/slide" Target="/ppt/slides/slide1.xml" Id="R0244d26958b24b4d" /><Relationship Type="http://schemas.openxmlformats.org/officeDocument/2006/relationships/slide" Target="/ppt/slides/slide2.xml" Id="R488f4b61cdeb4434" /><Relationship Type="http://schemas.openxmlformats.org/officeDocument/2006/relationships/slide" Target="/ppt/slides/slide3.xml" Id="R61dad3d994ca4c5e" /><Relationship Type="http://schemas.openxmlformats.org/officeDocument/2006/relationships/slide" Target="/ppt/slides/slide4.xml" Id="Rc291151a45344f99" /><Relationship Type="http://schemas.openxmlformats.org/officeDocument/2006/relationships/slide" Target="/ppt/slides/slide5.xml" Id="Raffd910af76040ed" /><Relationship Type="http://schemas.openxmlformats.org/officeDocument/2006/relationships/slide" Target="/ppt/slides/slide6.xml" Id="R5bf6f34775f1412f" /><Relationship Type="http://schemas.openxmlformats.org/officeDocument/2006/relationships/slide" Target="/ppt/slides/slide7.xml" Id="R65edf5378f93480b" /><Relationship Type="http://schemas.openxmlformats.org/officeDocument/2006/relationships/slide" Target="/ppt/slides/slide8.xml" Id="R4f884d8a085e413e" /><Relationship Type="http://schemas.openxmlformats.org/officeDocument/2006/relationships/slide" Target="/ppt/slides/slide9.xml" Id="R3bcf5987816c4cd2" /><Relationship Type="http://schemas.openxmlformats.org/officeDocument/2006/relationships/slide" Target="/ppt/slides/slide10.xml" Id="Rf496b575233d428e" /><Relationship Type="http://schemas.openxmlformats.org/officeDocument/2006/relationships/slide" Target="/ppt/slides/slide11.xml" Id="R077b6e0b4cfd40b1" /><Relationship Type="http://schemas.openxmlformats.org/officeDocument/2006/relationships/slide" Target="/ppt/slides/slide12.xml" Id="R77963740482047a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1dfb4b11c09a4d8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c285fcc83174a7a" /><Relationship Type="http://schemas.openxmlformats.org/officeDocument/2006/relationships/notesMaster" Target="/ppt/notesMasters/notesMaster1.xml" Id="R86ad71d96cc9439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b1f166cbf0d40c5" /><Relationship Type="http://schemas.openxmlformats.org/officeDocument/2006/relationships/notesMaster" Target="/ppt/notesMasters/notesMaster1.xml" Id="R1a1a9294154743f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2a18101d29e488a" /><Relationship Type="http://schemas.openxmlformats.org/officeDocument/2006/relationships/notesMaster" Target="/ppt/notesMasters/notesMaster1.xml" Id="R40657a74dd7e4b4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6e7da5936304637" /><Relationship Type="http://schemas.openxmlformats.org/officeDocument/2006/relationships/notesMaster" Target="/ppt/notesMasters/notesMaster1.xml" Id="R14197b2c9974453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7647ebf176e4df4" /><Relationship Type="http://schemas.openxmlformats.org/officeDocument/2006/relationships/notesMaster" Target="/ppt/notesMasters/notesMaster1.xml" Id="Ra0076ce342f0462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b03c92ed5c844d4" /><Relationship Type="http://schemas.openxmlformats.org/officeDocument/2006/relationships/notesMaster" Target="/ppt/notesMasters/notesMaster1.xml" Id="R990e403a62a64c3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71dc5647d4446d0" /><Relationship Type="http://schemas.openxmlformats.org/officeDocument/2006/relationships/notesMaster" Target="/ppt/notesMasters/notesMaster1.xml" Id="Raea07eb4a3d4455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009fd3179494be6" /><Relationship Type="http://schemas.openxmlformats.org/officeDocument/2006/relationships/notesMaster" Target="/ppt/notesMasters/notesMaster1.xml" Id="Rf5e6af1d3eab4df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f2a566cb6ef481e" /><Relationship Type="http://schemas.openxmlformats.org/officeDocument/2006/relationships/notesMaster" Target="/ppt/notesMasters/notesMaster1.xml" Id="R426a5c42740a44b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a56130ca0bc4270" /><Relationship Type="http://schemas.openxmlformats.org/officeDocument/2006/relationships/notesMaster" Target="/ppt/notesMasters/notesMaster1.xml" Id="Rfe78e9a0000e446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428e69f9ae84698" /><Relationship Type="http://schemas.openxmlformats.org/officeDocument/2006/relationships/notesMaster" Target="/ppt/notesMasters/notesMaster1.xml" Id="R92d35baa6428492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a1ff292d663441d" /><Relationship Type="http://schemas.openxmlformats.org/officeDocument/2006/relationships/notesMaster" Target="/ppt/notesMasters/notesMaster1.xml" Id="R9b2c573934b2409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98261c45e84e70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dda6e4d6b7914da4" /><Relationship Type="http://schemas.openxmlformats.org/officeDocument/2006/relationships/slideLayout" Target="/ppt/slideLayouts/slideLayout2.xml" Id="Rcaaac95676fc441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aaac95676fc441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2413fb02e294214" /><Relationship Type="http://schemas.openxmlformats.org/officeDocument/2006/relationships/notesSlide" Target="/ppt/notesSlides/notesSlide1.xml" Id="Re52dfdd83b5146d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7dfde78432f4a9f" /><Relationship Type="http://schemas.openxmlformats.org/officeDocument/2006/relationships/notesSlide" Target="/ppt/notesSlides/notesSlide2.xml" Id="R5806a3674706426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fcde320915a4801" /><Relationship Type="http://schemas.openxmlformats.org/officeDocument/2006/relationships/notesSlide" Target="/ppt/notesSlides/notesSlide3.xml" Id="Rcd8056718e71404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15f8bdefd1b4039" /><Relationship Type="http://schemas.openxmlformats.org/officeDocument/2006/relationships/notesSlide" Target="/ppt/notesSlides/notesSlide4.xml" Id="Rc54a3e274501438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cf12795bad8488b" /><Relationship Type="http://schemas.openxmlformats.org/officeDocument/2006/relationships/notesSlide" Target="/ppt/notesSlides/notesSlide5.xml" Id="R282411c5b4bb4c6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599fc9ddf644252" /><Relationship Type="http://schemas.openxmlformats.org/officeDocument/2006/relationships/notesSlide" Target="/ppt/notesSlides/notesSlide6.xml" Id="R910ecb9635db4ce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52e670054124847" /><Relationship Type="http://schemas.openxmlformats.org/officeDocument/2006/relationships/notesSlide" Target="/ppt/notesSlides/notesSlide7.xml" Id="R5849d10d930c479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a34d5bf3ae94903" /><Relationship Type="http://schemas.openxmlformats.org/officeDocument/2006/relationships/notesSlide" Target="/ppt/notesSlides/notesSlide8.xml" Id="Rbc2d590d933b4d7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47a7b5ad2cd43f3" /><Relationship Type="http://schemas.openxmlformats.org/officeDocument/2006/relationships/notesSlide" Target="/ppt/notesSlides/notesSlide9.xml" Id="R065a8945d27943e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2a46cec58da4fef" /><Relationship Type="http://schemas.openxmlformats.org/officeDocument/2006/relationships/image" Target="/ppt/media/image.png" Id="R91df8f6a138b44ac" /><Relationship Type="http://schemas.openxmlformats.org/officeDocument/2006/relationships/notesSlide" Target="/ppt/notesSlides/notesSlide10.xml" Id="R6db808159f4f4f0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f6cae6cabb744fe" /><Relationship Type="http://schemas.openxmlformats.org/officeDocument/2006/relationships/image" Target="/ppt/media/image2.png" Id="Rd313b16e77ce4b71" /><Relationship Type="http://schemas.openxmlformats.org/officeDocument/2006/relationships/image" Target="/ppt/media/image3.png" Id="Rb66067694e2849f4" /><Relationship Type="http://schemas.openxmlformats.org/officeDocument/2006/relationships/notesSlide" Target="/ppt/notesSlides/notesSlide11.xml" Id="Rd3d21d41e3cc4a0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47466a2ba39469e" /><Relationship Type="http://schemas.openxmlformats.org/officeDocument/2006/relationships/notesSlide" Target="/ppt/notesSlides/notesSlide12.xml" Id="Rd4ab630326874c5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6A9D3B-E9FC-4A44-8D1F-94E7A252F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A1B"/>
          </a:solidFill>
          <a:ln xmlns:a="http://schemas.openxmlformats.org/drawingml/2006/main" w="0">
            <a:solidFill>
              <a:srgbClr val="161A1B"/>
            </a:solidFill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48C4BAF-E827-43AB-8029-7BFF52A8F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C2A6"/>
          </a:solidFill>
          <a:ln xmlns:a="http://schemas.openxmlformats.org/drawingml/2006/main" w="0">
            <a:solidFill>
              <a:srgbClr val="F0C2A6"/>
            </a:solidFill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C0E3715-A9D6-4E2D-A2FF-76AFE2F0E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9575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C5A5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5C5A55"/>
                </a:solidFill>
                <a:latin typeface="Malgun Gothic"/>
                <a:ea typeface="Malgun Gothic"/>
                <a:cs typeface="Malgun Gothic"/>
              </a:rPr>
              <a:t>METHOD POSITIONING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15E5CE-E200-4654-9CB5-029E85AED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9334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3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텐서 identifiability는</a:t>
            </a:r>
          </a:p>
          <a:p xmlns:a="http://schemas.openxmlformats.org/drawingml/2006/main">
            <a:pPr algn="l">
              <a:defRPr sz="33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3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어디까지 작동했나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B43FD3-1893-4370-B2C9-A784CEF06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8953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6D2C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D6D2C8"/>
                </a:solidFill>
                <a:latin typeface="Malgun Gothic"/>
                <a:ea typeface="Malgun Gothic"/>
                <a:cs typeface="Malgun Gothic"/>
              </a:rPr>
              <a:t>성공한 결과를 과장하지 않기 위해, CPD가 고정한 kinetic mode와 sparse generator가 선택한 species basis를 분리해서 설명한다.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C417A5-B420-4DAD-85A1-708E5D846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52750"/>
            <a:ext cx="495300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A2B"/>
          </a:solidFill>
          <a:ln xmlns:a="http://schemas.openxmlformats.org/drawingml/2006/main" w="9525">
            <a:solidFill>
              <a:srgbClr val="3A4242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022D4F-2137-4715-ADE5-542694185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194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FE3D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BFE3DF"/>
                </a:solidFill>
                <a:latin typeface="Malgun Gothic"/>
                <a:ea typeface="Malgun Gothic"/>
                <a:cs typeface="Malgun Gothic"/>
              </a:rPr>
              <a:t>텐서가 강하게 준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3F619D-A11F-4B32-92EA-EEDD16474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623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3DF"/>
          </a:solidFill>
          <a:ln xmlns:a="http://schemas.openxmlformats.org/drawingml/2006/main" w="0">
            <a:solidFill>
              <a:srgbClr val="BFE3D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308190-F9B1-4F60-B8C7-A50129812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95700"/>
            <a:ext cx="3829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7E4D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E7E4DC"/>
                </a:solidFill>
                <a:latin typeface="Malgun Gothic"/>
                <a:ea typeface="Malgun Gothic"/>
                <a:cs typeface="Malgun Gothic"/>
              </a:rPr>
              <a:t>delay tensor CPD가 lifetime/eigenmode 축을 안정화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8A32AB-568D-4083-A839-E2D4AE1CC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386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3DF"/>
          </a:solidFill>
          <a:ln xmlns:a="http://schemas.openxmlformats.org/drawingml/2006/main" w="0">
            <a:solidFill>
              <a:srgbClr val="BFE3D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0A6ECC-0601-4214-B086-EC111D2C2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71950"/>
            <a:ext cx="3829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7E4D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E7E4DC"/>
                </a:solidFill>
                <a:latin typeface="Malgun Gothic"/>
                <a:ea typeface="Malgun Gothic"/>
                <a:cs typeface="Malgun Gothic"/>
              </a:rPr>
              <a:t>2D matrix rotation ambiguity를 크게 줄임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F5B31B-F19E-4B9B-81A6-50976A025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52750"/>
            <a:ext cx="495300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A2B"/>
          </a:solidFill>
          <a:ln xmlns:a="http://schemas.openxmlformats.org/drawingml/2006/main" w="9525">
            <a:solidFill>
              <a:srgbClr val="3A4242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FBB3E9-8072-4EE9-B332-6EEF3DBEF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194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0C2A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0C2A6"/>
                </a:solidFill>
                <a:latin typeface="Malgun Gothic"/>
                <a:ea typeface="Malgun Gothic"/>
                <a:cs typeface="Malgun Gothic"/>
              </a:rPr>
              <a:t>물리 제약이 결정한 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E91B54-9968-44B1-B53F-BE325190A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623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C2A6"/>
          </a:solidFill>
          <a:ln xmlns:a="http://schemas.openxmlformats.org/drawingml/2006/main" w="0">
            <a:solidFill>
              <a:srgbClr val="F0C2A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345A37-2EDF-426E-8AEC-2521A8EAA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95700"/>
            <a:ext cx="3829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7E4D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E7E4DC"/>
                </a:solidFill>
                <a:latin typeface="Malgun Gothic"/>
                <a:ea typeface="Malgun Gothic"/>
                <a:cs typeface="Malgun Gothic"/>
              </a:rPr>
              <a:t>first-order generator 안에서 species basis를 선택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61959F-5B9B-44CF-8DCB-8E19F13DF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386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C2A6"/>
          </a:solidFill>
          <a:ln xmlns:a="http://schemas.openxmlformats.org/drawingml/2006/main" w="0">
            <a:solidFill>
              <a:srgbClr val="F0C2A6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9F5FEA-0B3B-4A46-AE73-986ABDBAC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71950"/>
            <a:ext cx="3829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7E4D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E7E4DC"/>
                </a:solidFill>
                <a:latin typeface="Malgun Gothic"/>
                <a:ea typeface="Malgun Gothic"/>
                <a:cs typeface="Malgun Gothic"/>
              </a:rPr>
              <a:t>불필요한 forward 경로를 sparse penalty로 0 처리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D7B6D8-B311-41D1-BCF1-B270374FA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0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3DF"/>
          </a:solidFill>
          <a:ln xmlns:a="http://schemas.openxmlformats.org/drawingml/2006/main" w="0">
            <a:solidFill>
              <a:srgbClr val="BFE3D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AF0389-EE2F-4EE8-AA28-F3AD0E702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5785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7.7e-4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D361B5-EBDD-4412-86BA-601660797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980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FBAB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BFBAB0"/>
                </a:solidFill>
                <a:latin typeface="Malgun Gothic"/>
                <a:ea typeface="Malgun Gothic"/>
                <a:cs typeface="Malgun Gothic"/>
              </a:rPr>
              <a:t>zero-lag relative error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C664EF-EB4B-446D-8EC2-FD3854F64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524500"/>
            <a:ext cx="2000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C2A6"/>
          </a:solidFill>
          <a:ln xmlns:a="http://schemas.openxmlformats.org/drawingml/2006/main" w="0">
            <a:solidFill>
              <a:srgbClr val="F0C2A6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36A072-467B-4D00-BE2B-B483B2ACD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6578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8.0e-4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F4853B-5252-4BD4-A13B-213BD63F9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601980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FBAB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BFBAB0"/>
                </a:solidFill>
                <a:latin typeface="Malgun Gothic"/>
                <a:ea typeface="Malgun Gothic"/>
                <a:cs typeface="Malgun Gothic"/>
              </a:rPr>
              <a:t>full tensor relative error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6DCF7A-A1C5-4B65-A8FE-7C8A38297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524500"/>
            <a:ext cx="2476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62F"/>
          </a:solidFill>
          <a:ln xmlns:a="http://schemas.openxmlformats.org/drawingml/2006/main" w="0">
            <a:solidFill>
              <a:srgbClr val="C7962F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DEF753-F385-4D9B-8DF9-4D3EEA8B5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65785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1-&gt;2-&gt;3-&gt;G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8DC584-6CAD-4F12-A96C-1C26D8257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601980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FBAB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BFBAB0"/>
                </a:solidFill>
                <a:latin typeface="Malgun Gothic"/>
                <a:ea typeface="Malgun Gothic"/>
                <a:cs typeface="Malgun Gothic"/>
              </a:rPr>
              <a:t>surviving topology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61484F-3988-4873-84E2-FE8E210D8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52450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4AA"/>
          </a:solidFill>
          <a:ln xmlns:a="http://schemas.openxmlformats.org/drawingml/2006/main" w="0">
            <a:solidFill>
              <a:srgbClr val="B9B4AA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7A514D-E1F1-4269-801D-1921A2341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65785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3D65DB-92B6-4CCA-8232-F2F97722F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0198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FBAB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BFBAB0"/>
                </a:solidFill>
                <a:latin typeface="Malgun Gothic"/>
                <a:ea typeface="Malgun Gothic"/>
                <a:cs typeface="Malgun Gothic"/>
              </a:rPr>
              <a:t>1-&gt;3, 1-&gt;G, 2-&gt;G after pruning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1DC40DB-198B-4E29-8599-33757E98C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DBB"/>
          </a:solidFill>
          <a:ln xmlns:a="http://schemas.openxmlformats.org/drawingml/2006/main" w="0">
            <a:solidFill>
              <a:srgbClr val="D8CDBB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1F586BF-AC24-4A22-9922-C6CD93428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6257925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5A5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C5A55"/>
                </a:solidFill>
                <a:latin typeface="Malgun Gothic"/>
                <a:ea typeface="Malgun Gothic"/>
                <a:cs typeface="Malgun Gothic"/>
              </a:rPr>
              <a:t>Current result: tensor modes plus physical sparse rotation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6D03DDF-BB37-4CB3-9F79-CCF68BE62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10300"/>
            <a:ext cx="628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C5A5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5C5A55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6289102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3B1214-55C6-4BFD-B245-A46EA75FB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0">
            <a:solidFill>
              <a:srgbClr val="F8F3EA"/>
            </a:solidFill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AE8045F-2128-4143-B169-5EB8C7BF0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02E6926-48D5-4769-9FA6-32A00DF13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0525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C5A5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5C5A55"/>
                </a:solidFill>
                <a:latin typeface="Malgun Gothic"/>
                <a:ea typeface="Malgun Gothic"/>
                <a:cs typeface="Malgun Gothic"/>
              </a:rPr>
              <a:t>WHY 2D IS NOT ENOUGH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153C74-AA6E-4FB2-8A80-2CD20C3C2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9334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rPr>
              <a:t>2D q-time 데이터만으로는 species 축이 회전될 수 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10A543-25F5-4CC4-B7BB-E0A9FAF83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8191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C5A55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C5A55"/>
                </a:solidFill>
                <a:latin typeface="Malgun Gothic"/>
                <a:ea typeface="Malgun Gothic"/>
                <a:cs typeface="Malgun Gothic"/>
              </a:rPr>
              <a:t>같은 측정 행렬을 설명하는 spectrum/concentration 조합이 여러 개 존재한다. 그래서 농도 profile을 곧바로 정답이라고 부르기 어렵다.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A9F841-541A-4981-A00B-A54B44D48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81250"/>
            <a:ext cx="3429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8CDB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E39BB6-C306-42B2-B69D-26BF4FAE5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81250"/>
            <a:ext cx="3429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9276C2-A5C7-4323-B00F-C00412B96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09850"/>
            <a:ext cx="3048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41414"/>
                </a:solidFill>
                <a:latin typeface="Aptos"/>
                <a:ea typeface="Aptos"/>
                <a:cs typeface="Aptos"/>
              </a:rPr>
              <a:t>X(q,t) = S(q,species) C(t,species)^T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8F7D46-4D6D-4BE4-88E8-2A1A46870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03835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C5A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5C5A55"/>
                </a:solidFill>
                <a:latin typeface="Malgun Gothic"/>
                <a:ea typeface="Malgun Gothic"/>
                <a:cs typeface="Malgun Gothic"/>
              </a:rPr>
              <a:t>같은 데이터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1288F4-573E-45CA-91AF-9D2B5C3AB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57700" y="2890838"/>
            <a:ext cx="11144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4AA"/>
          </a:solidFill>
          <a:ln xmlns:a="http://schemas.openxmlformats.org/drawingml/2006/main" w="0">
            <a:solidFill>
              <a:srgbClr val="B9B4A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C407AB-2C3D-486B-A9B4-557B198BC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83845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9B4AA"/>
          </a:solidFill>
          <a:ln xmlns:a="http://schemas.openxmlformats.org/drawingml/2006/main" w="0">
            <a:solidFill>
              <a:srgbClr val="B9B4A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602079-0942-4C90-9581-F84AE22E9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552700"/>
            <a:ext cx="857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C5A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C5A55"/>
                </a:solidFill>
                <a:latin typeface="Malgun Gothic"/>
                <a:ea typeface="Malgun Gothic"/>
                <a:cs typeface="Malgun Gothic"/>
              </a:rPr>
              <a:t>임의 회전 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8B5A11-A0BC-4972-958E-50C2F8DC7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381250"/>
            <a:ext cx="3429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8CDB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B320E8-8755-47EE-993C-15C8C8C2A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381250"/>
            <a:ext cx="3429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532C"/>
          </a:solidFill>
          <a:ln xmlns:a="http://schemas.openxmlformats.org/drawingml/2006/main" w="0">
            <a:solidFill>
              <a:srgbClr val="B5532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5964D0-DE11-4BDE-A7C7-CDFAF4140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609850"/>
            <a:ext cx="3048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41414"/>
                </a:solidFill>
                <a:latin typeface="Aptos"/>
                <a:ea typeface="Aptos"/>
                <a:cs typeface="Aptos"/>
              </a:rPr>
              <a:t>X = (S R) (C R^-T)^T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3E08AD-2828-44D7-9FEC-C967E33AA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03835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C5A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5C5A55"/>
                </a:solidFill>
                <a:latin typeface="Malgun Gothic"/>
                <a:ea typeface="Malgun Gothic"/>
                <a:cs typeface="Malgun Gothic"/>
              </a:rPr>
              <a:t>다른 basis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D43179-384A-4D1C-BB0F-9441C751E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190750"/>
            <a:ext cx="18097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F"/>
          </a:solidFill>
          <a:ln xmlns:a="http://schemas.openxmlformats.org/drawingml/2006/main" w="9525">
            <a:solidFill>
              <a:srgbClr val="F0C2A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894351-1426-4D72-BB28-D137934B0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409825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5532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B5532C"/>
                </a:solidFill>
                <a:latin typeface="Malgun Gothic"/>
                <a:ea typeface="Malgun Gothic"/>
                <a:cs typeface="Malgun Gothic"/>
              </a:rPr>
              <a:t>의미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9E7F13-3924-4D30-9923-B1F3902D2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781300"/>
            <a:ext cx="13525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1414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41414"/>
                </a:solidFill>
                <a:latin typeface="Malgun Gothic"/>
                <a:ea typeface="Malgun Gothic"/>
                <a:cs typeface="Malgun Gothic"/>
              </a:rPr>
              <a:t>q spectrum과 농도가 서로 섞여도 X는 그대로일 수 있다. 즉 2D 행렬 분해는 species를 단독으로 고정하지 못한다.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543E07-C5EC-4FFA-8CB8-6F6B5A4B7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0"/>
            <a:ext cx="9525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DBB"/>
          </a:solidFill>
          <a:ln xmlns:a="http://schemas.openxmlformats.org/drawingml/2006/main" w="0">
            <a:solidFill>
              <a:srgbClr val="D8CDBB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7A1BF4-FF46-4DBE-AA5D-04CC3E960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0535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C8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007C83"/>
                </a:solidFill>
                <a:latin typeface="Malgun Gothic"/>
                <a:ea typeface="Malgun Gothic"/>
                <a:cs typeface="Malgun Gothic"/>
              </a:rPr>
              <a:t>핵심 문장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56E0A6-A14C-4A37-8F01-E26704C3C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648200"/>
            <a:ext cx="8096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rPr>
              <a:t>우리가 텐서로 확장한 이유는 이 rotation ambiguity를 줄이고, 시간축의 exponential structure를 더 강하게 고정하기 위해서다.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62622A-9AAA-4FE5-A0E8-D7FE10E2B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DBB"/>
          </a:solidFill>
          <a:ln xmlns:a="http://schemas.openxmlformats.org/drawingml/2006/main" w="0">
            <a:solidFill>
              <a:srgbClr val="D8CDBB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DEDA01-467C-4BC0-B91A-660A1ED2A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6257925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5A5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C5A55"/>
                </a:solidFill>
                <a:latin typeface="Malgun Gothic"/>
                <a:ea typeface="Malgun Gothic"/>
                <a:cs typeface="Malgun Gothic"/>
              </a:rPr>
              <a:t>Tensor identifiability method note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0816E1-2083-44CD-80A2-0DFB7B7D7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10300"/>
            <a:ext cx="628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C5A5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5C5A55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4521754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4AD518-8CE8-42CD-A9AF-8AC4E3ED4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0">
            <a:solidFill>
              <a:srgbClr val="F8F3EA"/>
            </a:solidFill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CA05F0A-2F4E-47B0-BA51-0E4B625CE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67C6D88-1F35-4DAC-9F45-67BC2BC6F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0525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C5A5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5C5A55"/>
                </a:solidFill>
                <a:latin typeface="Malgun Gothic"/>
                <a:ea typeface="Malgun Gothic"/>
                <a:cs typeface="Malgun Gothic"/>
              </a:rPr>
              <a:t>WHAT THE DELAY TENSOR ADDS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8D17C4-550D-4835-B91E-FF9633800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9334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rPr>
              <a:t>delay 축은 같은 kinetics를 여러 시점에서 다시 보게 만든다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CE4C71-633B-4AA8-B10E-BFE7B8A99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8191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C5A55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C5A55"/>
                </a:solidFill>
                <a:latin typeface="Malgun Gothic"/>
                <a:ea typeface="Malgun Gothic"/>
                <a:cs typeface="Malgun Gothic"/>
              </a:rPr>
              <a:t>t와 tau가 독립 축으로 들어오면, 한 번의 matrix factorization보다 더 강한 multiway constraint가 생긴다.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BD4F2B-C4B0-494F-84A0-DB978F413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43815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8CDB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8AB2AD-F0F0-427A-ACA4-AB76F65EE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717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C5A5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5C5A55"/>
                </a:solidFill>
                <a:latin typeface="Malgun Gothic"/>
                <a:ea typeface="Malgun Gothic"/>
                <a:cs typeface="Malgun Gothic"/>
              </a:rPr>
              <a:t>2D surface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851682-AE06-4ADD-88F3-727949FF9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86100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3D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EA2142-6A1A-48BD-8747-93F5B13ED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52800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3D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6E892E-4221-4A0B-80A9-C59431651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19500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3D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8FECB4-533D-44E1-8603-A26E378A4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86200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3D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E40917-6BA0-4C75-99A6-10036270D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3D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C12D70-0F62-43D8-ABC1-5B2E55891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86100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3D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328BFD-87A9-4E86-8F16-0C1D9A36A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52800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3D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C8C37A-768C-44D7-A1A7-767044132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19500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3D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B83040-B612-44A9-B40A-2D4DC7092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86200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3D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1999B3-D55A-4F77-BCCA-20215E9FC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52900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3D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7C60B9-350B-41F4-AAA7-DF50E92FB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086100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3D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C5F4DC-48FB-4FDE-AAF5-4A09B0908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352800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3D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19CC22-831D-4C03-B1A0-BB76899B6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619500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3D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AC524E-F3AF-4D9F-BB53-C4BD7D485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886200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3D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597CB0-5B3A-4214-82F6-456BCF3C5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152900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3D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F6B924-F397-46DC-9E3D-81A1F39D1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086100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C2A6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C4854D-BC11-409A-988A-C86E02B0C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352800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C2A6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C3D46E-65ED-4526-ACF2-A5189226E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619500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C2A6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C50BCA-525B-4D53-A795-0AE553F31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886200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C2A6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5A0364-0CB9-4B3A-815B-C1FB11E58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152900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C2A6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19B927-F32D-42D2-8C05-DA36E8465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086100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C2A6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ACDA36-9A8C-40A7-9EDF-CED590852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352800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C2A6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B908477-E832-4ADB-A92A-F9E5BBAF9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619500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C2A6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138C68E-BD36-4F49-99FB-AF52B47D8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886200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C2A6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ED1494C-942E-4431-82EC-277B97FD4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152900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C2A6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D4F0A15-A1D4-444B-A4FE-ECE04A32E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086100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C2A6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028D0C1-E530-4704-85EF-CA84001E6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352800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C2A6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D5FB2FC-AB64-4EBD-838B-1334C5A58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619500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C2A6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3439B0C-D4A5-4867-9259-210770A0B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886200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C2A6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B88B5D3-4E0F-4E3F-BEC5-04F567FD0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152900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C2A6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2ECC7C7-8A07-4536-AF91-11345463E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086100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9B5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A1C8A16-D1BB-48DF-9E40-41D12B54F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352800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9B5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F9A2BC6-1DBF-4108-AE4F-E8A945C01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619500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9B5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348F19A-F089-48C4-BBD0-0A7538DBB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886200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9B5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D0C733E-327E-4401-90F6-C7FA89D37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152900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9B5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C52BE0A-FF45-46B1-82C7-45278C610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86100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9B5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75625D9-52E8-4296-BD07-62AAF9232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52800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9B5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190F3C8-C31D-4065-93FB-F3AFDABF6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619500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9B5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379995C-E7A3-49BC-9AC2-1B094FDC8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886200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9B5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F4CAAA7-5D37-4994-A008-5C7E972A9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152900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9B5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4194737-AD44-4AFF-B83C-604C4D06A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686300"/>
            <a:ext cx="120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C5A5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C5A55"/>
                </a:solidFill>
                <a:latin typeface="Malgun Gothic"/>
                <a:ea typeface="Malgun Gothic"/>
                <a:cs typeface="Malgun Gothic"/>
              </a:rPr>
              <a:t>q x time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604CD72-F935-4F86-AA2F-244066C6E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0" y="3619500"/>
            <a:ext cx="85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4AA"/>
          </a:solidFill>
          <a:ln xmlns:a="http://schemas.openxmlformats.org/drawingml/2006/main" w="0">
            <a:solidFill>
              <a:srgbClr val="B9B4AA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DBDF161-87C4-42A9-A036-20A941BEF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5718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9B4AA"/>
          </a:solidFill>
          <a:ln xmlns:a="http://schemas.openxmlformats.org/drawingml/2006/main" w="0">
            <a:solidFill>
              <a:srgbClr val="B9B4AA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FF767F4-44C3-4803-80AA-B242D3E24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238500"/>
            <a:ext cx="1257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C5A5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C5A55"/>
                </a:solidFill>
                <a:latin typeface="Malgun Gothic"/>
                <a:ea typeface="Malgun Gothic"/>
                <a:cs typeface="Malgun Gothic"/>
              </a:rPr>
              <a:t>shift / Hankelization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AF888F3-E6CA-4C6A-A8D1-0927A059E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76450"/>
            <a:ext cx="4095750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8CDBB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0AC3CF5-B78A-4087-82DB-1781D88E5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3622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C5A5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5C5A55"/>
                </a:solidFill>
                <a:latin typeface="Malgun Gothic"/>
                <a:ea typeface="Malgun Gothic"/>
                <a:cs typeface="Malgun Gothic"/>
              </a:rPr>
              <a:t>3D delay tensor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8925E1D-ADA0-4288-8984-46ADB028A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14650"/>
            <a:ext cx="2190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CF8"/>
          </a:solidFill>
          <a:ln xmlns:a="http://schemas.openxmlformats.org/drawingml/2006/main" w="9525">
            <a:solidFill>
              <a:srgbClr val="D8CDBB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A5AA666-810F-4AA3-83CF-52185F815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200400"/>
            <a:ext cx="1428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3DF"/>
          </a:solidFill>
          <a:ln xmlns:a="http://schemas.openxmlformats.org/drawingml/2006/main" w="0">
            <a:solidFill>
              <a:srgbClr val="BFE3DF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82C7197-6B21-47D2-9E22-A030A789A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524250"/>
            <a:ext cx="1047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C2A6"/>
          </a:solidFill>
          <a:ln xmlns:a="http://schemas.openxmlformats.org/drawingml/2006/main" w="0">
            <a:solidFill>
              <a:srgbClr val="F0C2A6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10C272D-9A60-44DE-ABC6-F4063E393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848100"/>
            <a:ext cx="1714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62F"/>
          </a:solidFill>
          <a:ln xmlns:a="http://schemas.openxmlformats.org/drawingml/2006/main" w="0">
            <a:solidFill>
              <a:srgbClr val="C7962F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7D2D0EE-F389-4F2A-8B83-EB47100FD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724150"/>
            <a:ext cx="2190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9DA"/>
          </a:solidFill>
          <a:ln xmlns:a="http://schemas.openxmlformats.org/drawingml/2006/main" w="9525">
            <a:solidFill>
              <a:srgbClr val="D8CDBB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B8B0303-4B56-4CDD-BEEA-8D635D2A0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009900"/>
            <a:ext cx="1428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C2A6"/>
          </a:solidFill>
          <a:ln xmlns:a="http://schemas.openxmlformats.org/drawingml/2006/main" w="0">
            <a:solidFill>
              <a:srgbClr val="F0C2A6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6DF64FD-9703-4A5C-BA2D-1A0D20F39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333750"/>
            <a:ext cx="1047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3DF"/>
          </a:solidFill>
          <a:ln xmlns:a="http://schemas.openxmlformats.org/drawingml/2006/main" w="0">
            <a:solidFill>
              <a:srgbClr val="BFE3DF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1D09E4D-F0B0-47FF-85BB-11E1FFC28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657600"/>
            <a:ext cx="1714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62F"/>
          </a:solidFill>
          <a:ln xmlns:a="http://schemas.openxmlformats.org/drawingml/2006/main" w="0">
            <a:solidFill>
              <a:srgbClr val="C7962F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7644C10-A12C-4151-8BDE-F346B89FE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533650"/>
            <a:ext cx="2190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9DA"/>
          </a:solidFill>
          <a:ln xmlns:a="http://schemas.openxmlformats.org/drawingml/2006/main" w="9525">
            <a:solidFill>
              <a:srgbClr val="D8CDBB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C84BE2F-E027-46EF-9651-07AC05020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19400"/>
            <a:ext cx="1428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3DF"/>
          </a:solidFill>
          <a:ln xmlns:a="http://schemas.openxmlformats.org/drawingml/2006/main" w="0">
            <a:solidFill>
              <a:srgbClr val="BFE3DF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E1DA257-0D60-4988-B3E5-12EAE178D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43250"/>
            <a:ext cx="1047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C2A6"/>
          </a:solidFill>
          <a:ln xmlns:a="http://schemas.openxmlformats.org/drawingml/2006/main" w="0">
            <a:solidFill>
              <a:srgbClr val="F0C2A6"/>
            </a:solidFill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203181D-F9F2-4601-9A5D-AE7C3CC28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67100"/>
            <a:ext cx="1714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62F"/>
          </a:solidFill>
          <a:ln xmlns:a="http://schemas.openxmlformats.org/drawingml/2006/main" w="0">
            <a:solidFill>
              <a:srgbClr val="C7962F"/>
            </a:solidFill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583E3C0-E42D-4DE0-8BD4-C85F159AA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43150"/>
            <a:ext cx="2190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9DA"/>
          </a:solidFill>
          <a:ln xmlns:a="http://schemas.openxmlformats.org/drawingml/2006/main" w="9525">
            <a:solidFill>
              <a:srgbClr val="D8CDBB"/>
            </a:solidFill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2E0DF7A-08F7-4905-972B-C91BE9E33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28900"/>
            <a:ext cx="1428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C2A6"/>
          </a:solidFill>
          <a:ln xmlns:a="http://schemas.openxmlformats.org/drawingml/2006/main" w="0">
            <a:solidFill>
              <a:srgbClr val="F0C2A6"/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5D2F8FC-47F6-4379-9296-10E0542A6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952750"/>
            <a:ext cx="1047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3DF"/>
          </a:solidFill>
          <a:ln xmlns:a="http://schemas.openxmlformats.org/drawingml/2006/main" w="0">
            <a:solidFill>
              <a:srgbClr val="BFE3DF"/>
            </a:solidFill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4CEC68E-AEDF-4ADF-8675-12B938186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276600"/>
            <a:ext cx="1714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62F"/>
          </a:solidFill>
          <a:ln xmlns:a="http://schemas.openxmlformats.org/drawingml/2006/main" w="0">
            <a:solidFill>
              <a:srgbClr val="C7962F"/>
            </a:solidFill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07F0617-EF28-4314-830F-4D759D894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6291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C5A5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C5A55"/>
                </a:solidFill>
                <a:latin typeface="Malgun Gothic"/>
                <a:ea typeface="Malgun Gothic"/>
                <a:cs typeface="Malgun Gothic"/>
              </a:rPr>
              <a:t>q x time x tau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24269EC-1A2C-4719-8668-30E8184E0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24500"/>
            <a:ext cx="9982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2"/>
          </a:solidFill>
          <a:ln xmlns:a="http://schemas.openxmlformats.org/drawingml/2006/main" w="9525">
            <a:solidFill>
              <a:srgbClr val="BFE3DF"/>
            </a:solidFill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4905AA2-24AF-42D7-81E2-0D3DF3370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769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7C8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07C83"/>
                </a:solidFill>
                <a:latin typeface="Malgun Gothic"/>
                <a:ea typeface="Malgun Gothic"/>
                <a:cs typeface="Malgun Gothic"/>
              </a:rPr>
              <a:t>해석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4A200DB-E699-46B2-9A4C-5E9A08DE9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638800"/>
            <a:ext cx="8248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rPr>
              <a:t>같은 exponential decay가 여러 tau slice에서 일관된 형태를 보여야 하므로, CPD가 lifetime mode를 더 잘 고정한다.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F8B6E53-E0B2-49BC-8909-FAA22C098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DBB"/>
          </a:solidFill>
          <a:ln xmlns:a="http://schemas.openxmlformats.org/drawingml/2006/main" w="0">
            <a:solidFill>
              <a:srgbClr val="D8CDBB"/>
            </a:solidFill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5B618F2-5432-40BA-A9B0-1885D1CB7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6257925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5A5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C5A55"/>
                </a:solidFill>
                <a:latin typeface="Malgun Gothic"/>
                <a:ea typeface="Malgun Gothic"/>
                <a:cs typeface="Malgun Gothic"/>
              </a:rPr>
              <a:t>Tensor identifiability method note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DFB17C3-8657-4A93-99C8-D66FF6CA7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10300"/>
            <a:ext cx="628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C5A5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5C5A55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0858672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608E41-A0BA-4896-8DD1-59FFD463F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0">
            <a:solidFill>
              <a:srgbClr val="F8F3EA"/>
            </a:solidFill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B7798B5-138C-4B5F-95D0-9BCA428F3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8A3A6DB-A9DD-4736-89AC-5FB21B052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0525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C5A5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5C5A55"/>
                </a:solidFill>
                <a:latin typeface="Malgun Gothic"/>
                <a:ea typeface="Malgun Gothic"/>
                <a:cs typeface="Malgun Gothic"/>
              </a:rPr>
              <a:t>WHAT CPD IDENTIFIES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8F3BD5-274D-4225-8B3B-7BBFCB556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9334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rPr>
              <a:t>CP 성분은 species가 아니라 kinetic eigenmode에 더 가깝다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FB3BBE-D0D8-4A62-B50E-A75F29A9F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8191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C5A55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C5A55"/>
                </a:solidFill>
                <a:latin typeface="Malgun Gothic"/>
                <a:ea typeface="Malgun Gothic"/>
                <a:cs typeface="Malgun Gothic"/>
              </a:rPr>
              <a:t>1차 반응 network의 species 농도는 보통 여러 exponential mode의 선형조합이다. 그래서 CP component와 화학종이 1:1로 대응한다고 보면 위험하다.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258163-8320-4F49-810D-222E5CADF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4572000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BF6"/>
          </a:solidFill>
          <a:ln xmlns:a="http://schemas.openxmlformats.org/drawingml/2006/main" w="9525">
            <a:solidFill>
              <a:srgbClr val="D8CDB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2FF55A-4BFE-42B1-8B70-D5C874252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289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C8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07C83"/>
                </a:solidFill>
                <a:latin typeface="Malgun Gothic"/>
                <a:ea typeface="Malgun Gothic"/>
                <a:cs typeface="Malgun Gothic"/>
              </a:rPr>
              <a:t>CPD output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F25C50-46F5-4587-81D2-F28FDE168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76600"/>
            <a:ext cx="990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3DF"/>
          </a:solidFill>
          <a:ln xmlns:a="http://schemas.openxmlformats.org/drawingml/2006/main" w="9525">
            <a:solidFill>
              <a:srgbClr val="BFE3D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6092F8-94C0-477D-8FB9-A2E6CC985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371850"/>
            <a:ext cx="76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rPr>
              <a:t>mode 1</a:t>
            </a:r>
          </a:p>
          <a:p xmlns:a="http://schemas.openxmlformats.org/drawingml/2006/main">
            <a:pPr algn="ctr">
              <a:defRPr sz="120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rPr>
              <a:t>fast tau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20D2E9-CA58-41DD-8993-67B1D176B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276600"/>
            <a:ext cx="990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EE8"/>
          </a:solidFill>
          <a:ln xmlns:a="http://schemas.openxmlformats.org/drawingml/2006/main" w="9525">
            <a:solidFill>
              <a:srgbClr val="D7E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EEDD5C-D10D-4528-916E-C99A1B2BA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371850"/>
            <a:ext cx="76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rPr>
              <a:t>mode 2</a:t>
            </a:r>
          </a:p>
          <a:p xmlns:a="http://schemas.openxmlformats.org/drawingml/2006/main">
            <a:pPr algn="ctr">
              <a:defRPr sz="120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rPr>
              <a:t>mid tau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635312-BD21-4BE1-9A93-F48FAD36A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276600"/>
            <a:ext cx="990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F0"/>
          </a:solidFill>
          <a:ln xmlns:a="http://schemas.openxmlformats.org/drawingml/2006/main" w="9525">
            <a:solidFill>
              <a:srgbClr val="E7F4F0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018A41-9FAF-4B52-9B5E-B6D3D32EF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371850"/>
            <a:ext cx="76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rPr>
              <a:t>mode 3</a:t>
            </a:r>
          </a:p>
          <a:p xmlns:a="http://schemas.openxmlformats.org/drawingml/2006/main">
            <a:pPr algn="ctr">
              <a:defRPr sz="120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rPr>
              <a:t>slow tau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94C850-DBE3-4748-806D-861D1482C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24350"/>
            <a:ext cx="3238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5A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C5A55"/>
                </a:solidFill>
                <a:latin typeface="Malgun Gothic"/>
                <a:ea typeface="Malgun Gothic"/>
                <a:cs typeface="Malgun Gothic"/>
              </a:rPr>
              <a:t>orthogonal/near-unique basis in the tensorized lifetime space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824167-74EF-4276-8A4C-0E3F84177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19750" y="3695700"/>
            <a:ext cx="895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4AA"/>
          </a:solidFill>
          <a:ln xmlns:a="http://schemas.openxmlformats.org/drawingml/2006/main" w="0">
            <a:solidFill>
              <a:srgbClr val="B9B4A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29B677-4A9F-48AE-8776-0ED0052B2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6480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9B4AA"/>
          </a:solidFill>
          <a:ln xmlns:a="http://schemas.openxmlformats.org/drawingml/2006/main" w="0">
            <a:solidFill>
              <a:srgbClr val="B9B4A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C76AF8-81B5-4F16-876B-0DF72E610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333750"/>
            <a:ext cx="971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C5A5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C5A55"/>
                </a:solidFill>
                <a:latin typeface="Malgun Gothic"/>
                <a:ea typeface="Malgun Gothic"/>
                <a:cs typeface="Malgun Gothic"/>
              </a:rPr>
              <a:t>physical rotation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EB0A12-F35C-4E9D-A838-23C1FB274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362200"/>
            <a:ext cx="4572000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F2"/>
          </a:solidFill>
          <a:ln xmlns:a="http://schemas.openxmlformats.org/drawingml/2006/main" w="9525">
            <a:solidFill>
              <a:srgbClr val="F0C2A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8E8384-9B83-461F-8596-83C9EFFC0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6289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5532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B5532C"/>
                </a:solidFill>
                <a:latin typeface="Malgun Gothic"/>
                <a:ea typeface="Malgun Gothic"/>
                <a:cs typeface="Malgun Gothic"/>
              </a:rPr>
              <a:t>Species basis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8EBD3F-C4DA-4C02-A83E-B4FF993C7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276600"/>
            <a:ext cx="1066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C2A6"/>
          </a:solidFill>
          <a:ln xmlns:a="http://schemas.openxmlformats.org/drawingml/2006/main" w="9525">
            <a:solidFill>
              <a:srgbClr val="F0C2A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494E16-0BC9-4899-B01E-5420B7270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371850"/>
            <a:ext cx="838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rPr>
              <a:t>I1</a:t>
            </a:r>
          </a:p>
          <a:p xmlns:a="http://schemas.openxmlformats.org/drawingml/2006/main">
            <a:pPr algn="ctr">
              <a:defRPr sz="120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rPr>
              <a:t>conc.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AF0AEB-1E99-44E4-890C-8CCE62882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76600"/>
            <a:ext cx="1066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2BE"/>
          </a:solidFill>
          <a:ln xmlns:a="http://schemas.openxmlformats.org/drawingml/2006/main" w="9525">
            <a:solidFill>
              <a:srgbClr val="F5D2BE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E69572-DB91-4BE4-AE27-480DB402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371850"/>
            <a:ext cx="838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rPr>
              <a:t>I2</a:t>
            </a:r>
          </a:p>
          <a:p xmlns:a="http://schemas.openxmlformats.org/drawingml/2006/main">
            <a:pPr algn="ctr">
              <a:defRPr sz="120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rPr>
              <a:t>conc.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9268F7-5AC0-42C2-BDAA-48418BEA5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276600"/>
            <a:ext cx="1066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1D4"/>
          </a:solidFill>
          <a:ln xmlns:a="http://schemas.openxmlformats.org/drawingml/2006/main" w="9525">
            <a:solidFill>
              <a:srgbClr val="F7E1D4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9AB6E3-2D77-4EF1-A71C-70B881619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371850"/>
            <a:ext cx="838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rPr>
              <a:t>I3</a:t>
            </a:r>
          </a:p>
          <a:p xmlns:a="http://schemas.openxmlformats.org/drawingml/2006/main">
            <a:pPr algn="ctr">
              <a:defRPr sz="120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rPr>
              <a:t>conc.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9286C0-92B6-4467-9D87-98A5BC2AA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324350"/>
            <a:ext cx="3143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5A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C5A55"/>
                </a:solidFill>
                <a:latin typeface="Malgun Gothic"/>
                <a:ea typeface="Malgun Gothic"/>
                <a:cs typeface="Malgun Gothic"/>
              </a:rPr>
              <a:t>nonnegative profiles that obey a first-order generator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AB1161-88C0-4C8D-9137-352C3D5A7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388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rPr>
              <a:t>따라서 주장해야 할 것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DF7428-BA12-4DA0-9A51-84B721B97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619750"/>
            <a:ext cx="771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rPr>
              <a:t>CPD가 species를 직접 찾았다가 아니라, CPD가 찾은 kinetic mode 공간 안에서 물리적으로 가능한 species rotation을 찾았다.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C7CE38-E52E-4E81-A008-6A24C8DD4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DBB"/>
          </a:solidFill>
          <a:ln xmlns:a="http://schemas.openxmlformats.org/drawingml/2006/main" w="0">
            <a:solidFill>
              <a:srgbClr val="D8CDBB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3854A0-5753-427B-B43D-D73535BD4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6257925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5A5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C5A55"/>
                </a:solidFill>
                <a:latin typeface="Malgun Gothic"/>
                <a:ea typeface="Malgun Gothic"/>
                <a:cs typeface="Malgun Gothic"/>
              </a:rPr>
              <a:t>Tensor identifiability method note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31F2218-A9AA-4166-9C2E-1D9AD6EE1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10300"/>
            <a:ext cx="628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C5A5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5C5A55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6114218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2F91D6-BECE-447B-8EE2-F75377247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0">
            <a:solidFill>
              <a:srgbClr val="F8F3EA"/>
            </a:solidFill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80D260C-3896-4CB1-B8C1-6334CC841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0E25CCC-B864-46F9-A6C2-11FFC592A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0525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C5A5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5C5A55"/>
                </a:solidFill>
                <a:latin typeface="Malgun Gothic"/>
                <a:ea typeface="Malgun Gothic"/>
                <a:cs typeface="Malgun Gothic"/>
              </a:rPr>
              <a:t>IDENTIFIABILITY BOUNDARY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9BD81B-42BE-4828-BBAF-E8BAD2912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9334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rPr>
              <a:t>유일성은 한 번에 species까지 가지 않고, 두 단계로 쓰였다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7250EE-BA58-4391-804A-8849057CA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8191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C5A55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C5A55"/>
                </a:solidFill>
                <a:latin typeface="Malgun Gothic"/>
                <a:ea typeface="Malgun Gothic"/>
                <a:cs typeface="Malgun Gothic"/>
              </a:rPr>
              <a:t>첫 단계는 tensor CPD의 algebraic identifiability, 두 번째 단계는 kinetics가 허용하는 basis만 남기는 physical identifiability다.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0F986E-7D75-46D4-A538-06A9872A7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24100"/>
            <a:ext cx="45910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2"/>
          </a:solidFill>
          <a:ln xmlns:a="http://schemas.openxmlformats.org/drawingml/2006/main" w="9525">
            <a:solidFill>
              <a:srgbClr val="BFE3D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6224F4-351A-4A5B-8860-33EF175FD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289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7C8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007C83"/>
                </a:solidFill>
                <a:latin typeface="Malgun Gothic"/>
                <a:ea typeface="Malgun Gothic"/>
                <a:cs typeface="Malgun Gothic"/>
              </a:rPr>
              <a:t>1. Tensor-identifiable object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2AFFB1-1B78-4187-9D0F-99243C31D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289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00002A-6CB1-4A4B-90E1-230CFC84D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162300"/>
            <a:ext cx="3257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141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41414"/>
                </a:solidFill>
                <a:latin typeface="Malgun Gothic"/>
                <a:ea typeface="Malgun Gothic"/>
                <a:cs typeface="Malgun Gothic"/>
              </a:rPr>
              <a:t>lifetime/eigenmode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C0DB8B-D060-4911-92F2-9F6C2E5C9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242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EBD992-DF31-424A-851A-AB389BA42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657600"/>
            <a:ext cx="3257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141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41414"/>
                </a:solidFill>
                <a:latin typeface="Malgun Gothic"/>
                <a:ea typeface="Malgun Gothic"/>
                <a:cs typeface="Malgun Gothic"/>
              </a:rPr>
              <a:t>q-direction mixed spectral mode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590540-AC5F-4DC6-B616-E57EFA062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195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7CC712-CF7C-4FD0-B6FE-1BD8A4557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152900"/>
            <a:ext cx="3257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141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41414"/>
                </a:solidFill>
                <a:latin typeface="Malgun Gothic"/>
                <a:ea typeface="Malgun Gothic"/>
                <a:cs typeface="Malgun Gothic"/>
              </a:rPr>
              <a:t>tau/time consistency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9F9652-47E8-41C1-A440-CF2326CCC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705350"/>
            <a:ext cx="2400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BD0B5F-F028-4912-ADD1-3286D7C3B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762500"/>
            <a:ext cx="21717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CPD가 주로 책임지는 부분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466482-4007-4100-9E03-EC3FCB0AE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24100"/>
            <a:ext cx="45910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8"/>
          </a:solidFill>
          <a:ln xmlns:a="http://schemas.openxmlformats.org/drawingml/2006/main" w="9525">
            <a:solidFill>
              <a:srgbClr val="F0C2A6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B107F4-D9D2-4151-94F7-71ABD8F02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62890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5532C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B5532C"/>
                </a:solidFill>
                <a:latin typeface="Malgun Gothic"/>
                <a:ea typeface="Malgun Gothic"/>
                <a:cs typeface="Malgun Gothic"/>
              </a:rPr>
              <a:t>2. Physically selected object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5D17B0-7106-4DDE-8A28-1A739E019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2289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532C"/>
          </a:solidFill>
          <a:ln xmlns:a="http://schemas.openxmlformats.org/drawingml/2006/main" w="0">
            <a:solidFill>
              <a:srgbClr val="B5532C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F43C7C-F231-44B4-ADB3-5F73DAC09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162300"/>
            <a:ext cx="3257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141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41414"/>
                </a:solidFill>
                <a:latin typeface="Malgun Gothic"/>
                <a:ea typeface="Malgun Gothic"/>
                <a:cs typeface="Malgun Gothic"/>
              </a:rPr>
              <a:t>species concentration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22D722-2D1A-4BF2-88D9-46790FF78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242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532C"/>
          </a:solidFill>
          <a:ln xmlns:a="http://schemas.openxmlformats.org/drawingml/2006/main" w="0">
            <a:solidFill>
              <a:srgbClr val="B5532C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275EA5-55AB-485D-ABF1-891A3E011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657600"/>
            <a:ext cx="3257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141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41414"/>
                </a:solidFill>
                <a:latin typeface="Malgun Gothic"/>
                <a:ea typeface="Malgun Gothic"/>
                <a:cs typeface="Malgun Gothic"/>
              </a:rPr>
              <a:t>first-order generator topology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BAFB43-C4E7-4000-95DA-9762979A6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2195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532C"/>
          </a:solidFill>
          <a:ln xmlns:a="http://schemas.openxmlformats.org/drawingml/2006/main" w="0">
            <a:solidFill>
              <a:srgbClr val="B5532C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1EBD91-205E-4346-9B34-5822E98E1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152900"/>
            <a:ext cx="3257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141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41414"/>
                </a:solidFill>
                <a:latin typeface="Malgun Gothic"/>
                <a:ea typeface="Malgun Gothic"/>
                <a:cs typeface="Malgun Gothic"/>
              </a:rPr>
              <a:t>silent ground and sparsity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3C09F9-D709-41FE-84AD-2B599CE92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705350"/>
            <a:ext cx="2590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532C"/>
          </a:solidFill>
          <a:ln xmlns:a="http://schemas.openxmlformats.org/drawingml/2006/main" w="9525">
            <a:solidFill>
              <a:srgbClr val="B5532C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54D601-F942-430F-BAA0-ACDA9526F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762500"/>
            <a:ext cx="23622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generator rotation이 책임지는 부분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A13C56-7E79-4792-9C6A-021D994A5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57850" y="3719513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4"/>
          </a:solidFill>
          <a:ln xmlns:a="http://schemas.openxmlformats.org/drawingml/2006/main" w="0">
            <a:solidFill>
              <a:srgbClr val="141414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0A255B-B0AA-4DE4-A901-87836131F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66712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41414"/>
          </a:solidFill>
          <a:ln xmlns:a="http://schemas.openxmlformats.org/drawingml/2006/main" w="0">
            <a:solidFill>
              <a:srgbClr val="141414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2FC438-5C29-45B5-A008-C60A57B32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276600"/>
            <a:ext cx="723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C5A5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C5A55"/>
                </a:solidFill>
                <a:latin typeface="Malgun Gothic"/>
                <a:ea typeface="Malgun Gothic"/>
                <a:cs typeface="Malgun Gothic"/>
              </a:rPr>
              <a:t>rotation</a:t>
            </a:r>
          </a:p>
          <a:p xmlns:a="http://schemas.openxmlformats.org/drawingml/2006/main">
            <a:pPr algn="ctr">
              <a:defRPr sz="975" b="0">
                <a:solidFill>
                  <a:srgbClr val="5C5A5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C5A55"/>
                </a:solidFill>
                <a:latin typeface="Malgun Gothic"/>
                <a:ea typeface="Malgun Gothic"/>
                <a:cs typeface="Malgun Gothic"/>
              </a:rPr>
              <a:t>selection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F8E8D9-7ED6-4162-B78D-827A7DE67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619750"/>
            <a:ext cx="8991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F7"/>
          </a:solidFill>
          <a:ln xmlns:a="http://schemas.openxmlformats.org/drawingml/2006/main" w="9525">
            <a:solidFill>
              <a:srgbClr val="D8CDBB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BCB4359-30B1-44D5-8C9A-6D805DDC6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772150"/>
            <a:ext cx="895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C5A5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5C5A55"/>
                </a:solidFill>
                <a:latin typeface="Malgun Gothic"/>
                <a:ea typeface="Malgun Gothic"/>
                <a:cs typeface="Malgun Gothic"/>
              </a:rPr>
              <a:t>한 줄 정의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F7BAC37-61D0-47A9-90C9-0600139E7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724525"/>
            <a:ext cx="6991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41414"/>
                </a:solidFill>
                <a:latin typeface="Aptos"/>
                <a:ea typeface="Aptos"/>
                <a:cs typeface="Aptos"/>
              </a:rPr>
              <a:t>tensor-identifiable kinetic modes + physically constrained sparse kinetic rotation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19E7924-E730-49C5-A37A-BD5D9CF32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DBB"/>
          </a:solidFill>
          <a:ln xmlns:a="http://schemas.openxmlformats.org/drawingml/2006/main" w="0">
            <a:solidFill>
              <a:srgbClr val="D8CDBB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BC22407-EEC9-4603-97FF-187884ED6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6257925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5A5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C5A55"/>
                </a:solidFill>
                <a:latin typeface="Malgun Gothic"/>
                <a:ea typeface="Malgun Gothic"/>
                <a:cs typeface="Malgun Gothic"/>
              </a:rPr>
              <a:t>Tensor identifiability method note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65BFEDE-7377-4C3D-A166-4FA5ACC1A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10300"/>
            <a:ext cx="628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C5A5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5C5A55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9492385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84668A0-1A12-4E95-8A62-8333A7C19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0">
            <a:solidFill>
              <a:srgbClr val="F8F3EA"/>
            </a:solidFill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8E46AE1-B30B-4023-9952-511E12588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E8E7583-628A-4844-87FD-8117C47C6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0525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C5A5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5C5A55"/>
                </a:solidFill>
                <a:latin typeface="Malgun Gothic"/>
                <a:ea typeface="Malgun Gothic"/>
                <a:cs typeface="Malgun Gothic"/>
              </a:rPr>
              <a:t>SPARSE GENERATOR IDEA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F48DB6-8743-41B0-8A11-C76F4B0F4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9334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rPr>
              <a:t>모든 forward 경로를 열고, 데이터가 필요 없는 경로를 0으로 닫았다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51F5D4-D97E-45F6-83E8-EFBF665A2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8191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C5A55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C5A55"/>
                </a:solidFill>
                <a:latin typeface="Malgun Gothic"/>
                <a:ea typeface="Malgun Gothic"/>
                <a:cs typeface="Malgun Gothic"/>
              </a:rPr>
              <a:t>sequential 모델을 따로 골라 피팅한 것이 아니라, 하나의 일반 acyclic generator 안에서 rate들이 동시에 최적화됐다.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12D8A8-3BFF-4C43-B2FB-D48DC0D5E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0040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3DF"/>
          </a:solidFill>
          <a:ln xmlns:a="http://schemas.openxmlformats.org/drawingml/2006/main" w="9525">
            <a:solidFill>
              <a:srgbClr val="BFE3D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A961A4-0106-4103-A8D5-1175674D3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95650"/>
            <a:ext cx="514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4CF17D-9163-4F8C-B17F-2B0C06F58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20040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3DF"/>
          </a:solidFill>
          <a:ln xmlns:a="http://schemas.openxmlformats.org/drawingml/2006/main" w="9525">
            <a:solidFill>
              <a:srgbClr val="BFE3D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B9ECAE-68EC-4CC1-B8D9-1A10D1840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295650"/>
            <a:ext cx="514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23B282-7CF2-4A41-A28B-DDF6B03A0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0040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3DF"/>
          </a:solidFill>
          <a:ln xmlns:a="http://schemas.openxmlformats.org/drawingml/2006/main" w="9525">
            <a:solidFill>
              <a:srgbClr val="BFE3D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736E5B-F8CB-4289-A196-5DF39803F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295650"/>
            <a:ext cx="514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23E068-4DC5-4678-B3DD-214D3F85D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200400"/>
            <a:ext cx="8953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0D6"/>
          </a:solidFill>
          <a:ln xmlns:a="http://schemas.openxmlformats.org/drawingml/2006/main" w="9525">
            <a:solidFill>
              <a:srgbClr val="E6E0D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6CDFB4-7DDA-4628-B0CD-F9722A5AB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295650"/>
            <a:ext cx="666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rPr>
              <a:t>G</a:t>
            </a:r>
          </a:p>
          <a:p xmlns:a="http://schemas.openxmlformats.org/drawingml/2006/main">
            <a:pPr algn="ctr">
              <a:defRPr sz="120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rPr>
              <a:t>silent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9B3D4E-B6AA-4D4C-9F0A-4DA0CE077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14550" y="3538538"/>
            <a:ext cx="1733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A46"/>
          </a:solidFill>
          <a:ln xmlns:a="http://schemas.openxmlformats.org/drawingml/2006/main" w="0">
            <a:solidFill>
              <a:srgbClr val="287A4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AE4C90-4F1E-4CEB-806E-A1B5EC9C9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4956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87A46"/>
          </a:solidFill>
          <a:ln xmlns:a="http://schemas.openxmlformats.org/drawingml/2006/main" w="0">
            <a:solidFill>
              <a:srgbClr val="287A4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3AB078-800C-4A6E-BE70-0086B472D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05350" y="3538538"/>
            <a:ext cx="1733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A46"/>
          </a:solidFill>
          <a:ln xmlns:a="http://schemas.openxmlformats.org/drawingml/2006/main" w="0">
            <a:solidFill>
              <a:srgbClr val="287A46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214125-9FD2-4F41-8157-5586B3DD3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4956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87A46"/>
          </a:solidFill>
          <a:ln xmlns:a="http://schemas.openxmlformats.org/drawingml/2006/main" w="0">
            <a:solidFill>
              <a:srgbClr val="287A4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486B63-D423-4947-A113-43634D67B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96150" y="3538538"/>
            <a:ext cx="1733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A46"/>
          </a:solidFill>
          <a:ln xmlns:a="http://schemas.openxmlformats.org/drawingml/2006/main" w="0">
            <a:solidFill>
              <a:srgbClr val="287A4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1739A1-FA37-435A-A13E-F518A30DC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4956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87A46"/>
          </a:solidFill>
          <a:ln xmlns:a="http://schemas.openxmlformats.org/drawingml/2006/main" w="0">
            <a:solidFill>
              <a:srgbClr val="287A4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EF64FE-79F8-4F6C-A6F8-F607D292E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171825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87A4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87A46"/>
                </a:solidFill>
                <a:latin typeface="Malgun Gothic"/>
                <a:ea typeface="Malgun Gothic"/>
                <a:cs typeface="Malgun Gothic"/>
              </a:rPr>
              <a:t>survived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689C3D-8AB7-4201-BDBA-A2AF3891B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171825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87A4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87A46"/>
                </a:solidFill>
                <a:latin typeface="Malgun Gothic"/>
                <a:ea typeface="Malgun Gothic"/>
                <a:cs typeface="Malgun Gothic"/>
              </a:rPr>
              <a:t>survived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D6140E-B6D7-46D2-9842-53692C3A0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171825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87A4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87A46"/>
                </a:solidFill>
                <a:latin typeface="Malgun Gothic"/>
                <a:ea typeface="Malgun Gothic"/>
                <a:cs typeface="Malgun Gothic"/>
              </a:rPr>
              <a:t>survived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A8A405-1A9B-4F13-B78F-E57F2F41B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06411">
            <a:off x="1790700" y="3152775"/>
            <a:ext cx="5006998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3F33"/>
          </a:solidFill>
          <a:ln xmlns:a="http://schemas.openxmlformats.org/drawingml/2006/main" w="0">
            <a:solidFill>
              <a:srgbClr val="A73F33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DFC6D1-AE6E-4C0E-A21B-4C75FB82A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14580">
            <a:off x="1790700" y="3990975"/>
            <a:ext cx="7634868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3F33"/>
          </a:solidFill>
          <a:ln xmlns:a="http://schemas.openxmlformats.org/drawingml/2006/main" w="0">
            <a:solidFill>
              <a:srgbClr val="A73F33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9403F0-A7C5-4A80-ABD1-118663D91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05618">
            <a:off x="4286250" y="3990975"/>
            <a:ext cx="5199638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3F33"/>
          </a:solidFill>
          <a:ln xmlns:a="http://schemas.openxmlformats.org/drawingml/2006/main" w="0">
            <a:solidFill>
              <a:srgbClr val="A73F33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881F2F-DD28-411F-83ED-D9CBEB0F5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38125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73F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A73F33"/>
                </a:solidFill>
                <a:latin typeface="Malgun Gothic"/>
                <a:ea typeface="Malgun Gothic"/>
                <a:cs typeface="Malgun Gothic"/>
              </a:rPr>
              <a:t>pruned: 1-&gt;3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6CC7DD-1E83-4B43-890A-E48A3D7BB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62915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73F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A73F33"/>
                </a:solidFill>
                <a:latin typeface="Malgun Gothic"/>
                <a:ea typeface="Malgun Gothic"/>
                <a:cs typeface="Malgun Gothic"/>
              </a:rPr>
              <a:t>pruned: 1-&gt;G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A7A09B-CA9B-4C70-8AA8-1C726F423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73F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A73F33"/>
                </a:solidFill>
                <a:latin typeface="Malgun Gothic"/>
                <a:ea typeface="Malgun Gothic"/>
                <a:cs typeface="Malgun Gothic"/>
              </a:rPr>
              <a:t>pruned: 2-&gt;G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1462FB-5030-49EF-91BC-CD83DCACE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314950"/>
            <a:ext cx="971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8CDBB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B9EB41-8BD4-49AD-9346-BA0F63CD2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514975"/>
            <a:ext cx="590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5532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B5532C"/>
                </a:solidFill>
                <a:latin typeface="Malgun Gothic"/>
                <a:ea typeface="Malgun Gothic"/>
                <a:cs typeface="Malgun Gothic"/>
              </a:rPr>
              <a:t>해석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853EEBC-6126-4D0E-BF0E-FD7DA7DC9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467350"/>
            <a:ext cx="8020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rPr>
              <a:t>처음에는 1-&gt;2, 1-&gt;3, 1-&gt;G, 2-&gt;3, 2-&gt;G, 3-&gt;G를 모두 열었다. 최적화 후 source 대비 작은 rate는 0으로 잘렸다.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F53974-DBA4-4759-834D-B95EFC8C3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DBB"/>
          </a:solidFill>
          <a:ln xmlns:a="http://schemas.openxmlformats.org/drawingml/2006/main" w="0">
            <a:solidFill>
              <a:srgbClr val="D8CDBB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DF2673E-D342-4384-95CE-4C02FA0A7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6257925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5A5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C5A55"/>
                </a:solidFill>
                <a:latin typeface="Malgun Gothic"/>
                <a:ea typeface="Malgun Gothic"/>
                <a:cs typeface="Malgun Gothic"/>
              </a:rPr>
              <a:t>Tensor identifiability method note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37F66A1-2B56-45B4-8836-EC1502A47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10300"/>
            <a:ext cx="628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C5A5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5C5A55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0885704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0D0149A-BD82-418C-B299-A24830960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0">
            <a:solidFill>
              <a:srgbClr val="F8F3EA"/>
            </a:solidFill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360FBCF-5E10-43CA-AC91-F824FD5F2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DD55E5D-0279-4DA5-99EE-9E017F5F9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0525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C5A5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5C5A55"/>
                </a:solidFill>
                <a:latin typeface="Malgun Gothic"/>
                <a:ea typeface="Malgun Gothic"/>
                <a:cs typeface="Malgun Gothic"/>
              </a:rPr>
              <a:t>NOT MODEL SHOPPING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5E4487-95F4-42AF-A713-B123A53F2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9334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rPr>
              <a:t>sequential과 branch를 따로 평가해 고른 방식이 아니다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BA7D1B-6D87-4A6C-A8F2-2B6C90B9D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8191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C5A55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C5A55"/>
                </a:solidFill>
                <a:latin typeface="Malgun Gothic"/>
                <a:ea typeface="Malgun Gothic"/>
                <a:cs typeface="Malgun Gothic"/>
              </a:rPr>
              <a:t>차이는 작아 보이지만 논리적으로 중요하다. named model 비교가 아니라, 열린 generator 안에서 topology가 연속 변수로 선택된다.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DC3D67-A330-4822-8A25-BD6996AB4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86000"/>
            <a:ext cx="4762500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F"/>
          </a:solidFill>
          <a:ln xmlns:a="http://schemas.openxmlformats.org/drawingml/2006/main" w="9525">
            <a:solidFill>
              <a:srgbClr val="F0C2A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0255FB-C3F8-47C2-90BF-D1FA5BD25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7175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5532C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B5532C"/>
                </a:solidFill>
                <a:latin typeface="Malgun Gothic"/>
                <a:ea typeface="Malgun Gothic"/>
                <a:cs typeface="Malgun Gothic"/>
              </a:rPr>
              <a:t>기존식 개별 모델 평가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CE226D-4827-4447-B85E-3E28195A3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19450"/>
            <a:ext cx="10287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C2A6"/>
          </a:solidFill>
          <a:ln xmlns:a="http://schemas.openxmlformats.org/drawingml/2006/main" w="9525">
            <a:solidFill>
              <a:srgbClr val="F0C2A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079E5F-7211-4070-AF60-8A5E4CF75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14700"/>
            <a:ext cx="80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rPr>
              <a:t>sequential</a:t>
            </a:r>
          </a:p>
          <a:p xmlns:a="http://schemas.openxmlformats.org/drawingml/2006/main">
            <a:pPr algn="ctr">
              <a:defRPr sz="120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rPr>
              <a:t>fit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D985A6-D062-48F7-8D78-D79AB220F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19450"/>
            <a:ext cx="10287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C2A6"/>
          </a:solidFill>
          <a:ln xmlns:a="http://schemas.openxmlformats.org/drawingml/2006/main" w="9525">
            <a:solidFill>
              <a:srgbClr val="F0C2A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97E0D6-FE7A-4BE0-95D4-E3D7A1EA3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314700"/>
            <a:ext cx="80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rPr>
              <a:t>branch</a:t>
            </a:r>
          </a:p>
          <a:p xmlns:a="http://schemas.openxmlformats.org/drawingml/2006/main">
            <a:pPr algn="ctr">
              <a:defRPr sz="120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rPr>
              <a:t>fit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C8BB0A-912C-4258-A14E-2245430C6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219450"/>
            <a:ext cx="10287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C2A6"/>
          </a:solidFill>
          <a:ln xmlns:a="http://schemas.openxmlformats.org/drawingml/2006/main" w="9525">
            <a:solidFill>
              <a:srgbClr val="F0C2A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CAF817-2B63-40E9-93CB-A69ECB5F3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314700"/>
            <a:ext cx="80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rPr>
              <a:t>parallel</a:t>
            </a:r>
          </a:p>
          <a:p xmlns:a="http://schemas.openxmlformats.org/drawingml/2006/main">
            <a:pPr algn="ctr">
              <a:defRPr sz="120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rPr>
              <a:t>fit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621946-F338-41FD-81F9-961BEBEE4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28337">
            <a:off x="1790700" y="4081463"/>
            <a:ext cx="1525071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4AA"/>
          </a:solidFill>
          <a:ln xmlns:a="http://schemas.openxmlformats.org/drawingml/2006/main" w="0">
            <a:solidFill>
              <a:srgbClr val="B9B4A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942C83-F4B6-45C1-A72D-6137BE0D0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5624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9B4AA"/>
          </a:solidFill>
          <a:ln xmlns:a="http://schemas.openxmlformats.org/drawingml/2006/main" w="0">
            <a:solidFill>
              <a:srgbClr val="B9B4A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CAFC55-B216-4578-9302-1ABACE4C2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645137">
            <a:off x="3257550" y="4081463"/>
            <a:ext cx="534759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4AA"/>
          </a:solidFill>
          <a:ln xmlns:a="http://schemas.openxmlformats.org/drawingml/2006/main" w="0">
            <a:solidFill>
              <a:srgbClr val="B9B4A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FADD2F-9612-455C-AB79-6B8B3EF8B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5624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9B4AA"/>
          </a:solidFill>
          <a:ln xmlns:a="http://schemas.openxmlformats.org/drawingml/2006/main" w="0">
            <a:solidFill>
              <a:srgbClr val="B9B4A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F1F5F3-C2AB-4662-A202-4B3C7B1F9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642597">
            <a:off x="4743450" y="4081463"/>
            <a:ext cx="1614649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4AA"/>
          </a:solidFill>
          <a:ln xmlns:a="http://schemas.openxmlformats.org/drawingml/2006/main" w="0">
            <a:solidFill>
              <a:srgbClr val="B9B4A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5D5194-BF92-4B4A-A4DE-89D963836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5624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9B4AA"/>
          </a:solidFill>
          <a:ln xmlns:a="http://schemas.openxmlformats.org/drawingml/2006/main" w="0">
            <a:solidFill>
              <a:srgbClr val="B9B4A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F7C4B1-BBCB-4369-8EF0-86FE807D2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80060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C5A5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5C5A55"/>
                </a:solidFill>
                <a:latin typeface="Malgun Gothic"/>
                <a:ea typeface="Malgun Gothic"/>
                <a:cs typeface="Malgun Gothic"/>
              </a:rPr>
              <a:t>best score 선택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96CF35-C35D-4ADF-B507-188B5B959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286000"/>
            <a:ext cx="4762500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2"/>
          </a:solidFill>
          <a:ln xmlns:a="http://schemas.openxmlformats.org/drawingml/2006/main" w="9525">
            <a:solidFill>
              <a:srgbClr val="BFE3D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7CF7B1-1A8B-417C-9413-DAB67FA02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7175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7C8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007C83"/>
                </a:solidFill>
                <a:latin typeface="Malgun Gothic"/>
                <a:ea typeface="Malgun Gothic"/>
                <a:cs typeface="Malgun Gothic"/>
              </a:rPr>
              <a:t>이번 방식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B1BB36-EEC4-491B-801A-999D676E1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105150"/>
            <a:ext cx="1428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3DF"/>
          </a:solidFill>
          <a:ln xmlns:a="http://schemas.openxmlformats.org/drawingml/2006/main" w="9525">
            <a:solidFill>
              <a:srgbClr val="BFE3D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240107-0B77-40F2-9111-E5646FE1B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200400"/>
            <a:ext cx="1200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rPr>
              <a:t>one open</a:t>
            </a:r>
          </a:p>
          <a:p xmlns:a="http://schemas.openxmlformats.org/drawingml/2006/main">
            <a:pPr algn="ctr">
              <a:defRPr sz="120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rPr>
              <a:t>generator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A7BDBC-00E7-4DB7-9ECB-F1C5A11F5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95750"/>
            <a:ext cx="3543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1414"/>
                </a:solidFill>
                <a:latin typeface="Aptos"/>
                <a:ea typeface="Aptos"/>
                <a:cs typeface="Aptos"/>
              </a:rPr>
              <a:t>rates = [k12, k13, k1g, k23, k2g, k3g]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9988E0-0A10-4743-8C73-A82499230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148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C5A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5C5A55"/>
                </a:solidFill>
                <a:latin typeface="Malgun Gothic"/>
                <a:ea typeface="Malgun Gothic"/>
                <a:cs typeface="Malgun Gothic"/>
              </a:rPr>
              <a:t>sparsity + tensor residual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B32A6B-A3F1-435E-BC14-AE3C4EB78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048750" y="485775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A46"/>
          </a:solidFill>
          <a:ln xmlns:a="http://schemas.openxmlformats.org/drawingml/2006/main" w="0">
            <a:solidFill>
              <a:srgbClr val="287A46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5A6C0C-F66D-429C-94E7-2A74D874C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515302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87A46"/>
          </a:solidFill>
          <a:ln xmlns:a="http://schemas.openxmlformats.org/drawingml/2006/main" w="0">
            <a:solidFill>
              <a:srgbClr val="287A46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2E3B63-8AEB-4B9C-9F59-79A57A8E9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4102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87A4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87A46"/>
                </a:solidFill>
                <a:latin typeface="Malgun Gothic"/>
                <a:ea typeface="Malgun Gothic"/>
                <a:cs typeface="Malgun Gothic"/>
              </a:rPr>
              <a:t>1-&gt;2-&gt;3-&gt;G만 생존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D6FC6F-8BDF-4E63-B889-A0C9D372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DBB"/>
          </a:solidFill>
          <a:ln xmlns:a="http://schemas.openxmlformats.org/drawingml/2006/main" w="0">
            <a:solidFill>
              <a:srgbClr val="D8CDBB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4881461-DF1E-4C30-B062-6643FF155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6257925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5A5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C5A55"/>
                </a:solidFill>
                <a:latin typeface="Malgun Gothic"/>
                <a:ea typeface="Malgun Gothic"/>
                <a:cs typeface="Malgun Gothic"/>
              </a:rPr>
              <a:t>Tensor identifiability method note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180F236-A621-4882-AA9B-74BABA6AA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10300"/>
            <a:ext cx="628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C5A5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5C5A55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12141574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08706A-482D-420F-BD99-77613E639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0">
            <a:solidFill>
              <a:srgbClr val="F8F3EA"/>
            </a:solidFill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F1703D8-BFC3-42AE-8900-9A398D1F0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3966F50-AA93-4123-80E0-6BE80D124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0525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C5A5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5C5A55"/>
                </a:solidFill>
                <a:latin typeface="Malgun Gothic"/>
                <a:ea typeface="Malgun Gothic"/>
                <a:cs typeface="Malgun Gothic"/>
              </a:rPr>
              <a:t>CALCULATION 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3075BE-E173-48A8-9F57-4B19C5F77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9334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rPr>
              <a:t>비선형 rate 탐색과 q-spectrum 계산을 분리했다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241860-012C-4B70-B4A0-8F032FA72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8191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C5A55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C5A55"/>
                </a:solidFill>
                <a:latin typeface="Malgun Gothic"/>
                <a:ea typeface="Malgun Gothic"/>
                <a:cs typeface="Malgun Gothic"/>
              </a:rPr>
              <a:t>rate가 정해지면 농도 tensor surface가 정해지고, q spectrum은 그 조건에서 최적 선형해로 바로 계산된다.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35F753-FB29-4431-9379-63B0AA84A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18669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3DF"/>
          </a:solidFill>
          <a:ln xmlns:a="http://schemas.openxmlformats.org/drawingml/2006/main" w="9525">
            <a:solidFill>
              <a:srgbClr val="BFE3D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A6FEB0-6A90-41FD-B108-D69E62DF0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194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1414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41414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5097FE-F9D0-47E8-BB40-97C7CB334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7660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rPr>
              <a:t>RSV fitting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F9D468-EE90-4F5B-A969-53C33BFD8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76650"/>
            <a:ext cx="1447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41414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41414"/>
                </a:solidFill>
                <a:latin typeface="Malgun Gothic"/>
                <a:ea typeface="Malgun Gothic"/>
                <a:cs typeface="Malgun Gothic"/>
              </a:rPr>
              <a:t>빈 time point를 보간하고 lifetime seed를 얻음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871FAC-BC70-4CB1-B4CB-7A455E560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90800" y="3509963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4AA"/>
          </a:solidFill>
          <a:ln xmlns:a="http://schemas.openxmlformats.org/drawingml/2006/main" w="0">
            <a:solidFill>
              <a:srgbClr val="B9B4A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469292-0A1F-4131-8A36-3FFEBDB09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34575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9B4AA"/>
          </a:solidFill>
          <a:ln xmlns:a="http://schemas.openxmlformats.org/drawingml/2006/main" w="0">
            <a:solidFill>
              <a:srgbClr val="B9B4A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47AC57-E199-476A-B55A-C7370424A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628900"/>
            <a:ext cx="18669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EE8"/>
          </a:solidFill>
          <a:ln xmlns:a="http://schemas.openxmlformats.org/drawingml/2006/main" w="9525">
            <a:solidFill>
              <a:srgbClr val="D7EEE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0E65AC-69B2-41BD-82CC-A22AFE465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8194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1414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41414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98613A-B536-4704-BE4F-1EB5F9012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27660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rPr>
              <a:t>Delay tensor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E56BEC-B915-4BD4-912A-63B0F76A4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676650"/>
            <a:ext cx="1447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41414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41414"/>
                </a:solidFill>
                <a:latin typeface="Malgun Gothic"/>
                <a:ea typeface="Malgun Gothic"/>
                <a:cs typeface="Malgun Gothic"/>
              </a:rPr>
              <a:t>t + delay surface로 multiway structure 구성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F84332-AF69-4B2A-924C-A84280F25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00600" y="3509963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4AA"/>
          </a:solidFill>
          <a:ln xmlns:a="http://schemas.openxmlformats.org/drawingml/2006/main" w="0">
            <a:solidFill>
              <a:srgbClr val="B9B4A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FCAA4A-2CA1-4903-8FC0-9E3DDF3F3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34575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9B4AA"/>
          </a:solidFill>
          <a:ln xmlns:a="http://schemas.openxmlformats.org/drawingml/2006/main" w="0">
            <a:solidFill>
              <a:srgbClr val="B9B4A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BD3EA3-FE1A-4AC1-8761-6584A1F14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628900"/>
            <a:ext cx="18669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F0"/>
          </a:solidFill>
          <a:ln xmlns:a="http://schemas.openxmlformats.org/drawingml/2006/main" w="9525">
            <a:solidFill>
              <a:srgbClr val="E7F4F0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689D96-C738-4A69-B514-40B9DAC11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8194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1414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41414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1EE6C0-D419-477E-9627-B037A7EC9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27660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rPr>
              <a:t>CPD modes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601FEC-C872-4C3B-9F4B-61C956905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676650"/>
            <a:ext cx="1447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41414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41414"/>
                </a:solidFill>
                <a:latin typeface="Malgun Gothic"/>
                <a:ea typeface="Malgun Gothic"/>
                <a:cs typeface="Malgun Gothic"/>
              </a:rPr>
              <a:t>kinetic eigenmode / tau axis를 안정화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B7776B-036E-4E69-8744-BF12F3483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10400" y="3509963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4AA"/>
          </a:solidFill>
          <a:ln xmlns:a="http://schemas.openxmlformats.org/drawingml/2006/main" w="0">
            <a:solidFill>
              <a:srgbClr val="B9B4A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9A39BE-3398-4CEA-A77F-ED817C4CB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4575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9B4AA"/>
          </a:solidFill>
          <a:ln xmlns:a="http://schemas.openxmlformats.org/drawingml/2006/main" w="0">
            <a:solidFill>
              <a:srgbClr val="B9B4A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94E998-770F-4E61-B737-1CC759BAA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628900"/>
            <a:ext cx="18669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C2A6"/>
          </a:solidFill>
          <a:ln xmlns:a="http://schemas.openxmlformats.org/drawingml/2006/main" w="9525">
            <a:solidFill>
              <a:srgbClr val="F0C2A6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4C7EEB-F95F-407C-BA36-9BA87C4CF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8194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1414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41414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203560-DCE6-49DB-BBCF-8A73B6775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27660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rPr>
              <a:t>Sparse generator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E8D34A-33D0-4EDD-9E43-55444F889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676650"/>
            <a:ext cx="1447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41414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41414"/>
                </a:solidFill>
                <a:latin typeface="Malgun Gothic"/>
                <a:ea typeface="Malgun Gothic"/>
                <a:cs typeface="Malgun Gothic"/>
              </a:rPr>
              <a:t>열린 forward path들의 rate를 동시 최적화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62AFD2-916C-403D-9FE0-BE9A89858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20200" y="3509963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4AA"/>
          </a:solidFill>
          <a:ln xmlns:a="http://schemas.openxmlformats.org/drawingml/2006/main" w="0">
            <a:solidFill>
              <a:srgbClr val="B9B4AA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D3E51A-7685-4CCC-840E-B061EEF48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34575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9B4AA"/>
          </a:solidFill>
          <a:ln xmlns:a="http://schemas.openxmlformats.org/drawingml/2006/main" w="0">
            <a:solidFill>
              <a:srgbClr val="B9B4AA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CE74B6F-DB5C-4A8B-9DD1-C8D897C7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28900"/>
            <a:ext cx="18669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2BE"/>
          </a:solidFill>
          <a:ln xmlns:a="http://schemas.openxmlformats.org/drawingml/2006/main" w="9525">
            <a:solidFill>
              <a:srgbClr val="F5D2BE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35B8A2B-EA26-4B09-A063-9C58DACE7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8194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1414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41414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2776217-A1C6-47C8-93B9-97E263CFC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27660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rPr>
              <a:t>VarPro spectra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DD3D0C5-B815-4DE2-A632-668E402A0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676650"/>
            <a:ext cx="1447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41414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41414"/>
                </a:solidFill>
                <a:latin typeface="Malgun Gothic"/>
                <a:ea typeface="Malgun Gothic"/>
                <a:cs typeface="Malgun Gothic"/>
              </a:rPr>
              <a:t>주어진 농도에 대해 q spectrum을 선형 최소제곱으로 계산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2D9D0DA-3508-4211-B489-7C6F16292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200650"/>
            <a:ext cx="9429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8CDBB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B827EBC-50E0-4FE1-B41E-D84E3F186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4102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7C8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007C83"/>
                </a:solidFill>
                <a:latin typeface="Malgun Gothic"/>
                <a:ea typeface="Malgun Gothic"/>
                <a:cs typeface="Malgun Gothic"/>
              </a:rPr>
              <a:t>중요 포인트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26F0B18-3311-4A6C-8507-9572B086B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353050"/>
            <a:ext cx="752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rPr>
              <a:t>q spectrum은 nonlinear optimizer가 마음대로 흔드는 변수가 아니라, 각 generator 후보에서 가장 잘 맞는 선형해로 계산된다.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01F3318-56D9-4D65-83AA-A4E065489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DBB"/>
          </a:solidFill>
          <a:ln xmlns:a="http://schemas.openxmlformats.org/drawingml/2006/main" w="0">
            <a:solidFill>
              <a:srgbClr val="D8CDBB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E99AE2A-5C97-4B81-8F16-4181DE4CB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6257925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5A5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C5A55"/>
                </a:solidFill>
                <a:latin typeface="Malgun Gothic"/>
                <a:ea typeface="Malgun Gothic"/>
                <a:cs typeface="Malgun Gothic"/>
              </a:rPr>
              <a:t>Tensor identifiability method note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1B4F37A-DF22-4243-B167-3B15AE2A3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10300"/>
            <a:ext cx="628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C5A5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5C5A55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29747129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29C6CA3-F805-4713-B83A-1D389A5EB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0">
            <a:solidFill>
              <a:srgbClr val="F8F3EA"/>
            </a:solidFill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EAFB40C-E58C-45B0-BD25-D7592EF94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324A206-C65E-4A0A-A1C7-73B2B2E4E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0525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C5A5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5C5A55"/>
                </a:solidFill>
                <a:latin typeface="Malgun Gothic"/>
                <a:ea typeface="Malgun Gothic"/>
                <a:cs typeface="Malgun Gothic"/>
              </a:rPr>
              <a:t>OBJECTIVE AND CONSTRAINTS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60435C-07A6-4D24-A8E1-C610588A8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9334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rPr>
              <a:t>좋은 해는 텐서도 맞고, 농도도 물리적으로 말이 되어야 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AD3E36-BEC0-4E85-9FCE-B35DA3258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8191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C5A55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C5A55"/>
                </a:solidFill>
                <a:latin typeface="Malgun Gothic"/>
                <a:ea typeface="Malgun Gothic"/>
                <a:cs typeface="Malgun Gothic"/>
              </a:rPr>
              <a:t>단순 residual 최소화만 사용하면 조기 ground, 과도한 branch, 음수 농도 같은 비물리적 rotation이 생길 수 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01ED3A-8B00-4979-8E9C-A7418509D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098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DBB"/>
          </a:solidFill>
          <a:ln xmlns:a="http://schemas.openxmlformats.org/drawingml/2006/main" w="0">
            <a:solidFill>
              <a:srgbClr val="D8CDB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785E6F-3D8D-492C-BE8A-96EE477BA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288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862BE6-FB1B-4750-9E5D-3BC72063A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95525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tensor residual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A6F6C9-B88D-496D-A82D-210E744B6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247900"/>
            <a:ext cx="7429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rPr>
              <a:t>delay tensor 전체 구조를 설명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83D65F-DA8D-4292-A693-58FDCDDB1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6230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DBB"/>
          </a:solidFill>
          <a:ln xmlns:a="http://schemas.openxmlformats.org/drawingml/2006/main" w="0">
            <a:solidFill>
              <a:srgbClr val="D8CDB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33E902-E1AF-4DDB-9EC8-22E1C430F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00F2C9-1738-45AC-9437-FCDC18D70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47975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zero-lag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79560F-5837-4D12-8E34-FD000B4F6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800350"/>
            <a:ext cx="7429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rPr>
              <a:t>원래 측정 데이터에서 재구성 오차 억제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3C5B3D-1D4D-48AF-98D5-7E3DB5170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147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DBB"/>
          </a:solidFill>
          <a:ln xmlns:a="http://schemas.openxmlformats.org/drawingml/2006/main" w="0">
            <a:solidFill>
              <a:srgbClr val="D8CDB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3EF179-2FCD-4FF3-8AD7-E56FFF90A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337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532C"/>
          </a:solidFill>
          <a:ln xmlns:a="http://schemas.openxmlformats.org/drawingml/2006/main" w="9525">
            <a:solidFill>
              <a:srgbClr val="B5532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20F7FB-0602-4C5A-9085-BE47E75DC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400425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 &gt;= 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42E298-29C7-447E-BEA5-FA6B22A52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352800"/>
            <a:ext cx="7429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41414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41414"/>
                </a:solidFill>
                <a:latin typeface="Malgun Gothic"/>
                <a:ea typeface="Malgun Gothic"/>
                <a:cs typeface="Malgun Gothic"/>
              </a:rPr>
              <a:t>time/tau surface에서 농도 음수 방지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193DFD-8E40-4D13-ADAC-A6841BEC5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6720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DBB"/>
          </a:solidFill>
          <a:ln xmlns:a="http://schemas.openxmlformats.org/drawingml/2006/main" w="0">
            <a:solidFill>
              <a:srgbClr val="D8CDB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95FC72-D45F-457E-A88F-CB27546AA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862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532C"/>
          </a:solidFill>
          <a:ln xmlns:a="http://schemas.openxmlformats.org/drawingml/2006/main" w="9525">
            <a:solidFill>
              <a:srgbClr val="B5532C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7294EA-00DE-4887-997C-5ADBF6071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52875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silent ground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2560C6-49B8-4BA9-9481-D2FFD4F2B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905250"/>
            <a:ext cx="7429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41414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41414"/>
                </a:solidFill>
                <a:latin typeface="Malgun Gothic"/>
                <a:ea typeface="Malgun Gothic"/>
                <a:cs typeface="Malgun Gothic"/>
              </a:rPr>
              <a:t>ground q spectrum은 0, 농도 보존은 generator에서 처리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2EAA95-5241-47E4-A31C-CE3B039E1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196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DBB"/>
          </a:solidFill>
          <a:ln xmlns:a="http://schemas.openxmlformats.org/drawingml/2006/main" w="0">
            <a:solidFill>
              <a:srgbClr val="D8CDBB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3632A8-E24A-4D77-B9A1-8B1FF8F0A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A46"/>
          </a:solidFill>
          <a:ln xmlns:a="http://schemas.openxmlformats.org/drawingml/2006/main" w="9525">
            <a:solidFill>
              <a:srgbClr val="287A46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E51552-BA0E-41FB-AF48-89D19967D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05325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sparsity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61D26C-98A1-44B5-9A0B-81B0979AA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457700"/>
            <a:ext cx="7429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41414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41414"/>
                </a:solidFill>
                <a:latin typeface="Malgun Gothic"/>
                <a:ea typeface="Malgun Gothic"/>
                <a:cs typeface="Malgun Gothic"/>
              </a:rPr>
              <a:t>불필요한 경로를 0으로 닫아 topology 선택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600818-9EEB-4FDD-BCDE-61140A2EC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37210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DBB"/>
          </a:solidFill>
          <a:ln xmlns:a="http://schemas.openxmlformats.org/drawingml/2006/main" w="0">
            <a:solidFill>
              <a:srgbClr val="D8CDBB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DFABDA-9563-4AE7-9DEC-3C04D61C8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911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62F"/>
          </a:solidFill>
          <a:ln xmlns:a="http://schemas.openxmlformats.org/drawingml/2006/main" w="9525">
            <a:solidFill>
              <a:srgbClr val="C7962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D0FFBD-BA3E-4C03-B53D-06B37A762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57775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peak / ground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7476E6-6D6E-4C15-9FF6-BA2346030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010150"/>
            <a:ext cx="7429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41414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41414"/>
                </a:solidFill>
                <a:latin typeface="Malgun Gothic"/>
                <a:ea typeface="Malgun Gothic"/>
                <a:cs typeface="Malgun Gothic"/>
              </a:rPr>
              <a:t>mock truth에서 요구되는 순차적 출현과 late ground 유도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1F5708B-4ECC-450A-A58B-C4EBBED0B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753100"/>
            <a:ext cx="876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F"/>
          </a:solidFill>
          <a:ln xmlns:a="http://schemas.openxmlformats.org/drawingml/2006/main" w="9525">
            <a:solidFill>
              <a:srgbClr val="F0C2A6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8A77C9D-F480-4710-A934-725786664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876925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5532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B5532C"/>
                </a:solidFill>
                <a:latin typeface="Malgun Gothic"/>
                <a:ea typeface="Malgun Gothic"/>
                <a:cs typeface="Malgun Gothic"/>
              </a:rPr>
              <a:t>주의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F7372A6-F89A-4E49-ACC2-B5E69F123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829300"/>
            <a:ext cx="7200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rPr>
              <a:t>이 제약들은 species 해석을 가능하게 하는 물리 선택 기준이지, CPD 자체의 algebraic uniqueness는 아니다.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63DABE2-576B-44EC-AE13-5637655FB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DBB"/>
          </a:solidFill>
          <a:ln xmlns:a="http://schemas.openxmlformats.org/drawingml/2006/main" w="0">
            <a:solidFill>
              <a:srgbClr val="D8CDBB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0C2C18A-D603-465A-8A17-55FE0FEA2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6257925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5A5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C5A55"/>
                </a:solidFill>
                <a:latin typeface="Malgun Gothic"/>
                <a:ea typeface="Malgun Gothic"/>
                <a:cs typeface="Malgun Gothic"/>
              </a:rPr>
              <a:t>Tensor identifiability method note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13F98A4-B2A3-4F7A-A5C2-6D6627574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10300"/>
            <a:ext cx="628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C5A5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5C5A55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34251283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949B1B-EF1B-478A-93A6-AF5FBD4F4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0">
            <a:solidFill>
              <a:srgbClr val="F8F3EA"/>
            </a:solidFill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40B9566-D329-4241-84A6-610EED8D6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F62CC4E-757A-4A35-A580-3E9D18F3D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0525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C5A5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5C5A55"/>
                </a:solidFill>
                <a:latin typeface="Malgun Gothic"/>
                <a:ea typeface="Malgun Gothic"/>
                <a:cs typeface="Malgun Gothic"/>
              </a:rPr>
              <a:t>CURRENT RESULT: CONCENTRATION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88D707-C3F8-48C4-ACF9-275CE9738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9334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rPr>
              <a:t>현재 best 해는 active 3종과 late silent ground를 거의 복원한다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016617-469F-47A8-A97D-2AE77D64B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8191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C5A55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C5A55"/>
                </a:solidFill>
                <a:latin typeface="Malgun Gothic"/>
                <a:ea typeface="Malgun Gothic"/>
                <a:cs typeface="Malgun Gothic"/>
              </a:rPr>
              <a:t>목데이터의 정답이 3개 active intermediate라는 조건과 맞고, surviving topology도 1-&gt;2-&gt;3-&gt;G로 정리됐다.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5D62F0-4524-49E0-9C4E-EB4354BC2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69532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DBB"/>
            </a:solidFill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df8f6a138b44ac"/>
          <a:stretch xmlns:a="http://schemas.openxmlformats.org/drawingml/2006/main"/>
        </p:blipFill>
        <p:spPr>
          <a:xfrm xmlns:a="http://schemas.openxmlformats.org/drawingml/2006/main">
            <a:off x="1289111" y="2114550"/>
            <a:ext cx="5746628" cy="37909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9EF4DC-8184-4289-90BB-FD6C97752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33600"/>
            <a:ext cx="31432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8CDB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164084-FE33-46D2-82FF-90752C40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003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C5A5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C5A55"/>
                </a:solidFill>
                <a:latin typeface="Aptos"/>
                <a:ea typeface="Aptos"/>
                <a:cs typeface="Aptos"/>
              </a:rPr>
              <a:t>reading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123627-845B-4260-8761-9067A4565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813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A46"/>
          </a:solidFill>
          <a:ln xmlns:a="http://schemas.openxmlformats.org/drawingml/2006/main" w="0">
            <a:solidFill>
              <a:srgbClr val="287A4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726E28-1CE7-488B-AFF2-9C4D2B83C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914650"/>
            <a:ext cx="2209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141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41414"/>
                </a:solidFill>
                <a:latin typeface="Malgun Gothic"/>
                <a:ea typeface="Malgun Gothic"/>
                <a:cs typeface="Malgun Gothic"/>
              </a:rPr>
              <a:t>I1, I2, I3 peak가 순서대로 등장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5397F0-7693-4F9E-A654-D1B193122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5909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A46"/>
          </a:solidFill>
          <a:ln xmlns:a="http://schemas.openxmlformats.org/drawingml/2006/main" w="0">
            <a:solidFill>
              <a:srgbClr val="287A4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A2A8DE-617A-482A-943B-F3AEFE340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524250"/>
            <a:ext cx="2209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141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41414"/>
                </a:solidFill>
                <a:latin typeface="Malgun Gothic"/>
                <a:ea typeface="Malgun Gothic"/>
                <a:cs typeface="Malgun Gothic"/>
              </a:rPr>
              <a:t>ground는 초기에 거의 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537F45-7F1C-4B38-A62F-E3DA546FB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2005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A46"/>
          </a:solidFill>
          <a:ln xmlns:a="http://schemas.openxmlformats.org/drawingml/2006/main" w="0">
            <a:solidFill>
              <a:srgbClr val="287A4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ADDC73-1B12-4A4D-8BC4-8C78718CC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33850"/>
            <a:ext cx="2209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141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41414"/>
                </a:solidFill>
                <a:latin typeface="Malgun Gothic"/>
                <a:ea typeface="Malgun Gothic"/>
                <a:cs typeface="Malgun Gothic"/>
              </a:rPr>
              <a:t>끝에서는 ground가 거의 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C490B0-64B6-47E7-B72D-6EC558FCE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57750"/>
            <a:ext cx="2000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1414"/>
                </a:solidFill>
                <a:latin typeface="Aptos"/>
                <a:ea typeface="Aptos"/>
                <a:cs typeface="Aptos"/>
              </a:rPr>
              <a:t>earlyG = 0.0038</a:t>
            </a:r>
          </a:p>
          <a:p xmlns:a="http://schemas.openxmlformats.org/drawingml/2006/main">
            <a:pPr algn="ctr">
              <a:defRPr sz="1350" b="1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1414"/>
                </a:solidFill>
                <a:latin typeface="Aptos"/>
                <a:ea typeface="Aptos"/>
                <a:cs typeface="Aptos"/>
              </a:rPr>
              <a:t>endG = 0.99996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FBF542-14EB-4BCC-8EE8-2893F6638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DBB"/>
          </a:solidFill>
          <a:ln xmlns:a="http://schemas.openxmlformats.org/drawingml/2006/main" w="0">
            <a:solidFill>
              <a:srgbClr val="D8CDB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2EDF43-59A3-4F48-8AE7-A93FD13B9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6257925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5A5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C5A55"/>
                </a:solidFill>
                <a:latin typeface="Malgun Gothic"/>
                <a:ea typeface="Malgun Gothic"/>
                <a:cs typeface="Malgun Gothic"/>
              </a:rPr>
              <a:t>Tensor identifiability method note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2B35BC-2EC1-4E04-916F-5342B3C63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10300"/>
            <a:ext cx="628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C5A5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5C5A55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01206918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7D4EC8-8624-43BE-88F7-F5C5645D5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0">
            <a:solidFill>
              <a:srgbClr val="F8F3EA"/>
            </a:solidFill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B5E6F45-04E5-4A8B-ABB7-4B62BCE2A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BD66FC2-539B-497D-9FEF-67F4C710D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0525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C5A5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5C5A55"/>
                </a:solidFill>
                <a:latin typeface="Malgun Gothic"/>
                <a:ea typeface="Malgun Gothic"/>
                <a:cs typeface="Malgun Gothic"/>
              </a:rPr>
              <a:t>CURRENT RESULT: SIGNAL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1B667C-04A0-40B6-913F-0867BC0E2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9334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rPr>
              <a:t>선택된 species basis는 q spectrum과 원 데이터도 동시에 설명한다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2B03F1-9FCD-4AE6-AA7E-A5167FC74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8191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C5A55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C5A55"/>
                </a:solidFill>
                <a:latin typeface="Malgun Gothic"/>
                <a:ea typeface="Malgun Gothic"/>
                <a:cs typeface="Malgun Gothic"/>
              </a:rPr>
              <a:t>농도 모양만 그럴듯한 해가 아니라, q 방향 spectrum과 zero-lag reconstruction이 같이 맞아야 성공이다.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BD11D2-E38D-4104-A1A1-C5AA316CF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514350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DBB"/>
            </a:solidFill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13b16e77ce4b71"/>
          <a:stretch xmlns:a="http://schemas.openxmlformats.org/drawingml/2006/main"/>
        </p:blipFill>
        <p:spPr>
          <a:xfrm xmlns:a="http://schemas.openxmlformats.org/drawingml/2006/main">
            <a:off x="762000" y="2215604"/>
            <a:ext cx="4838700" cy="3188793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43B85A-0DBF-42EA-8AD5-CEB9A857B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769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7C8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007C83"/>
                </a:solidFill>
                <a:latin typeface="Malgun Gothic"/>
                <a:ea typeface="Malgun Gothic"/>
                <a:cs typeface="Malgun Gothic"/>
              </a:rPr>
              <a:t>q spectra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B663A4-6150-4483-925F-2B8022C2C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75310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2"/>
          </a:solidFill>
          <a:ln xmlns:a="http://schemas.openxmlformats.org/drawingml/2006/main" w="9525">
            <a:solidFill>
              <a:srgbClr val="BFE3D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1DCF48-4FD4-4EEC-8B3A-893556529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829300"/>
            <a:ext cx="1790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7C8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7C83"/>
                </a:solidFill>
                <a:latin typeface="Aptos"/>
                <a:ea typeface="Aptos"/>
                <a:cs typeface="Aptos"/>
              </a:rPr>
              <a:t>zero-lag err 0.00077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A508F9-D88A-4C50-B19B-6A002DA14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19300"/>
            <a:ext cx="514350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DBB"/>
            </a:solidFill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6067694e2849f4"/>
          <a:stretch xmlns:a="http://schemas.openxmlformats.org/drawingml/2006/main"/>
        </p:blipFill>
        <p:spPr>
          <a:xfrm xmlns:a="http://schemas.openxmlformats.org/drawingml/2006/main">
            <a:off x="6572250" y="2299360"/>
            <a:ext cx="4838700" cy="302128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402B9D-2C6F-4727-B23F-F63969293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67690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5532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B5532C"/>
                </a:solidFill>
                <a:latin typeface="Malgun Gothic"/>
                <a:ea typeface="Malgun Gothic"/>
                <a:cs typeface="Malgun Gothic"/>
              </a:rPr>
              <a:t>zero-lag reconstruction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7C012A-176B-4CDC-90F2-86E34DA63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75310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8"/>
          </a:solidFill>
          <a:ln xmlns:a="http://schemas.openxmlformats.org/drawingml/2006/main" w="9525">
            <a:solidFill>
              <a:srgbClr val="F0C2A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EC05CC-E647-49B9-88B8-1A7F1F8C0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829300"/>
            <a:ext cx="1790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5532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5532C"/>
                </a:solidFill>
                <a:latin typeface="Aptos"/>
                <a:ea typeface="Aptos"/>
                <a:cs typeface="Aptos"/>
              </a:rPr>
              <a:t>tensor err 0.00080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633CC2-57E9-4804-897C-FCF6F57AF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DBB"/>
          </a:solidFill>
          <a:ln xmlns:a="http://schemas.openxmlformats.org/drawingml/2006/main" w="0">
            <a:solidFill>
              <a:srgbClr val="D8CDB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3BDEFB-7F3D-4311-9D19-9B49CCD10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6257925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5A5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C5A55"/>
                </a:solidFill>
                <a:latin typeface="Malgun Gothic"/>
                <a:ea typeface="Malgun Gothic"/>
                <a:cs typeface="Malgun Gothic"/>
              </a:rPr>
              <a:t>Tensor identifiability method note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B6822C-C8D6-4BD9-9010-58E99FD06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10300"/>
            <a:ext cx="628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C5A5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5C5A55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313980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20C3B3-0716-4EC7-99F2-7A83ABCB2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A1B"/>
          </a:solidFill>
          <a:ln xmlns:a="http://schemas.openxmlformats.org/drawingml/2006/main" w="0">
            <a:solidFill>
              <a:srgbClr val="161A1B"/>
            </a:solidFill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6CCBD1D-B5CA-449B-A5BD-F76E79B7A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3DF"/>
          </a:solidFill>
          <a:ln xmlns:a="http://schemas.openxmlformats.org/drawingml/2006/main" w="0">
            <a:solidFill>
              <a:srgbClr val="BFE3DF"/>
            </a:solidFill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C3E22AD-141F-479B-9119-E322E5B61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9575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C5A5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5C5A55"/>
                </a:solidFill>
                <a:latin typeface="Malgun Gothic"/>
                <a:ea typeface="Malgun Gothic"/>
                <a:cs typeface="Malgun Gothic"/>
              </a:rPr>
              <a:t>HONEST IDENTIFIABILITY LEDGER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81F78B-5375-4E7A-8E4D-CFC21B5A6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334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결론: identifiability는 활용했지만, species는 물리 제약으로 완성했다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81A1E7-506F-4FB8-8878-A4E44BB09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933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6D2C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D6D2C8"/>
                </a:solidFill>
                <a:latin typeface="Malgun Gothic"/>
                <a:ea typeface="Malgun Gothic"/>
                <a:cs typeface="Malgun Gothic"/>
              </a:rPr>
              <a:t>이 표현이 가장 정확하고 방어 가능하다. 다음 단계는 같은 절차가 branch/parallel mock에서도 필요한 경로만 살리는지 확인하는 것이다.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0E5CF1-E078-4006-B77E-70923DFFC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05100"/>
            <a:ext cx="31432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A2B"/>
          </a:solidFill>
          <a:ln xmlns:a="http://schemas.openxmlformats.org/drawingml/2006/main" w="9525">
            <a:solidFill>
              <a:srgbClr val="3A4242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95C1B2-7CE3-41C4-B2CE-B6FD548DC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05100"/>
            <a:ext cx="3143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A46"/>
          </a:solidFill>
          <a:ln xmlns:a="http://schemas.openxmlformats.org/drawingml/2006/main" w="0">
            <a:solidFill>
              <a:srgbClr val="287A4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E1A8EE-F54F-4BA0-810F-5708665D5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2895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강하게 주장 가능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0AD49E-A306-4BAB-A4F2-AD8968D67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43300"/>
            <a:ext cx="25717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D4C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D8D4CA"/>
                </a:solidFill>
                <a:latin typeface="Malgun Gothic"/>
                <a:ea typeface="Malgun Gothic"/>
                <a:cs typeface="Malgun Gothic"/>
              </a:rPr>
              <a:t>delay tensor CPD가 lifetime/eigenmode subspace를 안정화했다.</a:t>
            </a:r>
          </a:p>
          <a:p xmlns:a="http://schemas.openxmlformats.org/drawingml/2006/main">
            <a:pPr algn="l">
              <a:defRPr sz="1200" b="0">
                <a:solidFill>
                  <a:srgbClr val="D8D4C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D8D4CA"/>
                </a:solidFill>
                <a:latin typeface="Malgun Gothic"/>
                <a:ea typeface="Malgun Gothic"/>
                <a:cs typeface="Malgun Gothic"/>
              </a:rPr>
              <a:t>현재 해는 tensor와 zero-lag 데이터를 동시에 거의 완벽히 설명한다.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0E1744-5938-47FC-9691-4EFBC19A7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705100"/>
            <a:ext cx="31432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A2B"/>
          </a:solidFill>
          <a:ln xmlns:a="http://schemas.openxmlformats.org/drawingml/2006/main" w="9525">
            <a:solidFill>
              <a:srgbClr val="3A424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9DD17D-9642-4850-ACB9-5A8CDC9E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705100"/>
            <a:ext cx="3143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62F"/>
          </a:solidFill>
          <a:ln xmlns:a="http://schemas.openxmlformats.org/drawingml/2006/main" w="0">
            <a:solidFill>
              <a:srgbClr val="C7962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99A64E-1A77-4A89-BC9B-B264AD53A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2895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주의해서 주장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6F4F2A-1405-4820-BC83-128E7A0B7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543300"/>
            <a:ext cx="25717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D4C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D8D4CA"/>
                </a:solidFill>
                <a:latin typeface="Malgun Gothic"/>
                <a:ea typeface="Malgun Gothic"/>
                <a:cs typeface="Malgun Gothic"/>
              </a:rPr>
              <a:t>species basis와 reaction topology는 CP 성분 자체가 아니라 sparse first-order generator rotation으로 선택됐다.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003D23-8823-4D5D-8091-76FE1B523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705100"/>
            <a:ext cx="31432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A2B"/>
          </a:solidFill>
          <a:ln xmlns:a="http://schemas.openxmlformats.org/drawingml/2006/main" w="9525">
            <a:solidFill>
              <a:srgbClr val="3A4242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8B2D7E-EC04-45D1-A573-BC8D02AEF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705100"/>
            <a:ext cx="3143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532C"/>
          </a:solidFill>
          <a:ln xmlns:a="http://schemas.openxmlformats.org/drawingml/2006/main" w="0">
            <a:solidFill>
              <a:srgbClr val="B5532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38206F-D35F-4FA2-B456-0CA8FFF20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2895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아직 검증 필요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345F82-BD79-4C8B-85A4-BF69E0041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43300"/>
            <a:ext cx="25717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D4C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D8D4CA"/>
                </a:solidFill>
                <a:latin typeface="Malgun Gothic"/>
                <a:ea typeface="Malgun Gothic"/>
                <a:cs typeface="Malgun Gothic"/>
              </a:rPr>
              <a:t>branch/parallel/reversible mock에서 같은 open-generator 절차가 경로를 제대로 살리는지 split-half와 rank stability로 확인해야 한다.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401814-EBC0-438C-81F6-79280F4FB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410200"/>
            <a:ext cx="8286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9525">
            <a:solidFill>
              <a:srgbClr val="D8CDB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5DB54D-47B3-42C7-811B-8D5C83F45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638800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C5A5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5C5A55"/>
                </a:solidFill>
                <a:latin typeface="Malgun Gothic"/>
                <a:ea typeface="Malgun Gothic"/>
                <a:cs typeface="Malgun Gothic"/>
              </a:rPr>
              <a:t>추천 표현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17F08F-F95E-4E0D-A749-68723A7B7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562600"/>
            <a:ext cx="628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41414"/>
                </a:solidFill>
                <a:latin typeface="Aptos"/>
                <a:ea typeface="Aptos"/>
                <a:cs typeface="Aptos"/>
              </a:rPr>
              <a:t>Tensor-identifiable kinetic modes were converted to species profiles by a sparse physical generator.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AD587A-565C-416B-9263-A8AF72227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DBB"/>
          </a:solidFill>
          <a:ln xmlns:a="http://schemas.openxmlformats.org/drawingml/2006/main" w="0">
            <a:solidFill>
              <a:srgbClr val="D8CDBB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DD612A-82B9-4FBB-B66C-FEE2F42FB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6257925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5A5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C5A55"/>
                </a:solidFill>
                <a:latin typeface="Malgun Gothic"/>
                <a:ea typeface="Malgun Gothic"/>
                <a:cs typeface="Malgun Gothic"/>
              </a:rPr>
              <a:t>Positioning for method discussion and next validation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5DF000-6C83-4AAE-BADC-0C4091338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10300"/>
            <a:ext cx="628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C5A5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5C5A55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5090157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2026-05-17T05:55:56.1020000Z</dcterms:created>
  <dcterms:modified xsi:type="dcterms:W3CDTF">2026-05-17T05:55:56.1020000Z</dcterms:modified>
</coreProperties>
</file>